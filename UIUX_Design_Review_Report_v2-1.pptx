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Navigation</c:v>
                </c:pt>
              </c:strCache>
            </c:strRef>
          </c:tx>
          <c:spPr>
            <a:solidFill>
              <a:srgbClr val="0B3C4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F2D2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Spotify</c:v>
                  </c:pt>
                  <c:pt idx="1">
                    <c:v>Duolingo</c:v>
                  </c:pt>
                  <c:pt idx="2">
                    <c:v>Google Maps</c:v>
                  </c:pt>
                  <c:pt idx="3">
                    <c:v>Swiggy</c:v>
                  </c:pt>
                  <c:pt idx="4">
                    <c:v>Notion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8.5</c:v>
                </c:pt>
                <c:pt idx="1">
                  <c:v>8</c:v>
                </c:pt>
                <c:pt idx="2">
                  <c:v>9</c:v>
                </c:pt>
                <c:pt idx="3">
                  <c:v>7.5</c:v>
                </c:pt>
                <c:pt idx="4">
                  <c:v>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Visual Design</c:v>
                </c:pt>
              </c:strCache>
            </c:strRef>
          </c:tx>
          <c:spPr>
            <a:solidFill>
              <a:srgbClr val="14919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F2D2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Spotify</c:v>
                  </c:pt>
                  <c:pt idx="1">
                    <c:v>Duolingo</c:v>
                  </c:pt>
                  <c:pt idx="2">
                    <c:v>Google Maps</c:v>
                  </c:pt>
                  <c:pt idx="3">
                    <c:v>Swiggy</c:v>
                  </c:pt>
                  <c:pt idx="4">
                    <c:v>Notion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9</c:v>
                </c:pt>
                <c:pt idx="1">
                  <c:v>9</c:v>
                </c:pt>
                <c:pt idx="2">
                  <c:v>8.5</c:v>
                </c:pt>
                <c:pt idx="3">
                  <c:v>7.5</c:v>
                </c:pt>
                <c:pt idx="4">
                  <c:v>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Onboarding</c:v>
                </c:pt>
              </c:strCache>
            </c:strRef>
          </c:tx>
          <c:spPr>
            <a:solidFill>
              <a:srgbClr val="F2A54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F2D2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Spotify</c:v>
                  </c:pt>
                  <c:pt idx="1">
                    <c:v>Duolingo</c:v>
                  </c:pt>
                  <c:pt idx="2">
                    <c:v>Google Maps</c:v>
                  </c:pt>
                  <c:pt idx="3">
                    <c:v>Swiggy</c:v>
                  </c:pt>
                  <c:pt idx="4">
                    <c:v>Notion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8.5</c:v>
                </c:pt>
                <c:pt idx="1">
                  <c:v>9.5</c:v>
                </c:pt>
                <c:pt idx="2">
                  <c:v>8</c:v>
                </c:pt>
                <c:pt idx="3">
                  <c:v>8</c:v>
                </c:pt>
                <c:pt idx="4">
                  <c:v>6.5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Personalization</c:v>
                </c:pt>
              </c:strCache>
            </c:strRef>
          </c:tx>
          <c:spPr>
            <a:solidFill>
              <a:srgbClr val="D1603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F2D2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Spotify</c:v>
                  </c:pt>
                  <c:pt idx="1">
                    <c:v>Duolingo</c:v>
                  </c:pt>
                  <c:pt idx="2">
                    <c:v>Google Maps</c:v>
                  </c:pt>
                  <c:pt idx="3">
                    <c:v>Swiggy</c:v>
                  </c:pt>
                  <c:pt idx="4">
                    <c:v>Notion</c:v>
                  </c:pt>
                </c:lvl>
              </c:multiLvlStrCache>
            </c:multiLvl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9.5</c:v>
                </c:pt>
                <c:pt idx="1">
                  <c:v>8.5</c:v>
                </c:pt>
                <c:pt idx="2">
                  <c:v>8.5</c:v>
                </c:pt>
                <c:pt idx="3">
                  <c:v>8</c:v>
                </c:pt>
                <c:pt idx="4">
                  <c:v>7.5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1F2D2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F2D2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"/>
          <c:min val="0"/>
        </c:scaling>
        <c:delete val="0"/>
        <c:axPos val="l"/>
        <c:majorGridlines>
          <c:spPr>
            <a:ln w="6350" cap="flat">
              <a:solidFill>
                <a:srgbClr val="D5E4E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F74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1F2D2F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-914400"/>
            <a:ext cx="3474720" cy="3474720"/>
          </a:xfrm>
          <a:prstGeom prst="ellipse">
            <a:avLst/>
          </a:prstGeom>
          <a:solidFill>
            <a:srgbClr val="14919B">
              <a:alpha val="40000"/>
            </a:srgbClr>
          </a:solidFill>
          <a:ln w="12700">
            <a:solidFill>
              <a:srgbClr val="14919B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9144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/ UX DESIGN REVIEW REPORT  •  V2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80160"/>
            <a:ext cx="6583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Comparative Teardown of Five Leading Mobile Applications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5146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E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Spotify  •  Duolingo  •  Google Maps  •  Swiggy  •  Notion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3200400"/>
            <a:ext cx="594360" cy="594360"/>
          </a:xfrm>
          <a:prstGeom prst="ellipse">
            <a:avLst/>
          </a:prstGeom>
          <a:solidFill>
            <a:srgbClr val="1DB95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32004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320040" y="3840480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Spotify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737360" y="3200400"/>
            <a:ext cx="594360" cy="594360"/>
          </a:xfrm>
          <a:prstGeom prst="ellipse">
            <a:avLst/>
          </a:prstGeom>
          <a:solidFill>
            <a:srgbClr val="58CC0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737360" y="32004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1508760" y="3840480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Duolingo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926080" y="3200400"/>
            <a:ext cx="594360" cy="594360"/>
          </a:xfrm>
          <a:prstGeom prst="ellipse">
            <a:avLst/>
          </a:prstGeom>
          <a:solidFill>
            <a:srgbClr val="4285F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926080" y="32004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2697480" y="3840480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Maps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114800" y="3200400"/>
            <a:ext cx="594360" cy="594360"/>
          </a:xfrm>
          <a:prstGeom prst="ellipse">
            <a:avLst/>
          </a:prstGeom>
          <a:solidFill>
            <a:srgbClr val="FC801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114800" y="32004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3886200" y="3840480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Swiggy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303520" y="3200400"/>
            <a:ext cx="594360" cy="594360"/>
          </a:xfrm>
          <a:prstGeom prst="ellipse">
            <a:avLst/>
          </a:prstGeom>
          <a:solidFill>
            <a:srgbClr val="19191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303520" y="32004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5074920" y="3840480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Notion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45720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FE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for: Design &amp; Product Team          Date: October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&amp; Review Methodology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8872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report evaluates the interface and experience design of five widely used apps across media, education, navigation, food delivery and productivity — to surface transferable UI/UX patterns and improvement opportunities.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286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91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 Under Review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651760"/>
            <a:ext cx="310896" cy="310896"/>
          </a:xfrm>
          <a:prstGeom prst="ellipse">
            <a:avLst/>
          </a:prstGeom>
          <a:solidFill>
            <a:srgbClr val="1DB95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26517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67919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Spotify  </a:t>
            </a:r>
            <a:pPr indent="0" marL="0">
              <a:buNone/>
            </a:pPr>
            <a:r>
              <a:rPr lang="en-US" sz="1100" dirty="0">
                <a:solidFill>
                  <a:srgbClr val="5F7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Music &amp; Podcast Streaming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072384"/>
            <a:ext cx="310896" cy="310896"/>
          </a:xfrm>
          <a:prstGeom prst="ellipse">
            <a:avLst/>
          </a:prstGeom>
          <a:solidFill>
            <a:srgbClr val="58CC0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30723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309981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Duolingo  </a:t>
            </a:r>
            <a:pPr indent="0" marL="0">
              <a:buNone/>
            </a:pPr>
            <a:r>
              <a:rPr lang="en-US" sz="1100" dirty="0">
                <a:solidFill>
                  <a:srgbClr val="5F7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Learning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493008"/>
            <a:ext cx="310896" cy="310896"/>
          </a:xfrm>
          <a:prstGeom prst="ellipse">
            <a:avLst/>
          </a:prstGeom>
          <a:solidFill>
            <a:srgbClr val="4285F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34930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914400" y="352044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Maps  </a:t>
            </a:r>
            <a:pPr indent="0" marL="0">
              <a:buNone/>
            </a:pPr>
            <a:r>
              <a:rPr lang="en-US" sz="1100" dirty="0">
                <a:solidFill>
                  <a:srgbClr val="5F7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&amp; Local Search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913632"/>
            <a:ext cx="310896" cy="310896"/>
          </a:xfrm>
          <a:prstGeom prst="ellipse">
            <a:avLst/>
          </a:prstGeom>
          <a:solidFill>
            <a:srgbClr val="FC801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39136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914400" y="394106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Swiggy  </a:t>
            </a:r>
            <a:pPr indent="0" marL="0">
              <a:buNone/>
            </a:pPr>
            <a:r>
              <a:rPr lang="en-US" sz="1100" dirty="0">
                <a:solidFill>
                  <a:srgbClr val="5F7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Restaurants &amp; Grocery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4334256"/>
            <a:ext cx="310896" cy="310896"/>
          </a:xfrm>
          <a:prstGeom prst="ellipse">
            <a:avLst/>
          </a:prstGeom>
          <a:solidFill>
            <a:srgbClr val="19191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57200" y="43342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914400" y="436168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Notion  </a:t>
            </a:r>
            <a:pPr indent="0" marL="0">
              <a:buNone/>
            </a:pPr>
            <a:r>
              <a:rPr lang="en-US" sz="1100" dirty="0">
                <a:solidFill>
                  <a:srgbClr val="5F7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 &amp; Workspace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54880" y="1188720"/>
            <a:ext cx="3931920" cy="58521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5E4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54880" y="1261872"/>
            <a:ext cx="64008" cy="438912"/>
          </a:xfrm>
          <a:prstGeom prst="rect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983480" y="1188720"/>
            <a:ext cx="3611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&amp; IA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5F7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discovery, tab structure, wayfinding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4880" y="1883664"/>
            <a:ext cx="3931920" cy="58521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5E4E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54880" y="1956816"/>
            <a:ext cx="64008" cy="438912"/>
          </a:xfrm>
          <a:prstGeom prst="rect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983480" y="1883664"/>
            <a:ext cx="3611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Design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5F7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Colour, typography, layout hierarchy, consistency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754880" y="2578608"/>
            <a:ext cx="3931920" cy="58521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5E4E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754880" y="2651760"/>
            <a:ext cx="64008" cy="438912"/>
          </a:xfrm>
          <a:prstGeom prst="rect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983480" y="2578608"/>
            <a:ext cx="3611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 &amp; Onboarding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5F7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First-run experience, gestures, friction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754880" y="3273552"/>
            <a:ext cx="3931920" cy="58521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5E4E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754880" y="3346704"/>
            <a:ext cx="64008" cy="438912"/>
          </a:xfrm>
          <a:prstGeom prst="rect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983480" y="3273552"/>
            <a:ext cx="3611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Personalization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5F7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Recommendations, adaptive content, user control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754880" y="3968496"/>
            <a:ext cx="3931920" cy="58521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5E4E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754880" y="4041648"/>
            <a:ext cx="64008" cy="438912"/>
          </a:xfrm>
          <a:prstGeom prst="rect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983480" y="3968496"/>
            <a:ext cx="3611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 &amp; Trust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5F7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Contrast, readability, security cues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457200" y="4800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F7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UI/UX Design Review  •  v2</a:t>
            </a:r>
            <a:endParaRPr lang="en-US" sz="800" dirty="0"/>
          </a:p>
        </p:txBody>
      </p:sp>
      <p:sp>
        <p:nvSpPr>
          <p:cNvPr id="37" name="Text 35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F7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28600"/>
            <a:ext cx="8595360" cy="777240"/>
          </a:xfrm>
          <a:prstGeom prst="roundRect">
            <a:avLst>
              <a:gd name="adj" fmla="val 47059"/>
            </a:avLst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20040"/>
            <a:ext cx="594360" cy="594360"/>
          </a:xfrm>
          <a:prstGeom prst="ellipse">
            <a:avLst/>
          </a:prstGeom>
          <a:solidFill>
            <a:srgbClr val="1DB95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3200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27432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Spotify</a:t>
            </a:r>
            <a:endParaRPr lang="en-US" sz="2000" dirty="0"/>
          </a:p>
          <a:p>
            <a:pPr indent="0" marL="0">
              <a:buNone/>
            </a:pPr>
            <a:r>
              <a:rPr lang="en-US" sz="1000" dirty="0">
                <a:solidFill>
                  <a:srgbClr val="CFE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— Music &amp; Podcast Streaming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040880" y="27432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8.9</a:t>
            </a:r>
            <a:endParaRPr lang="en-US" sz="2400" dirty="0"/>
          </a:p>
          <a:p>
            <a:pPr algn="r" indent="0" marL="0">
              <a:buNone/>
            </a:pPr>
            <a:r>
              <a:rPr lang="en-US" sz="800" dirty="0">
                <a:solidFill>
                  <a:srgbClr val="CFE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/10 UX SCORE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F7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goal: put the right track one tap away, whatever the mood.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463040"/>
            <a:ext cx="4023360" cy="548640"/>
          </a:xfrm>
          <a:prstGeom prst="roundRect">
            <a:avLst>
              <a:gd name="adj" fmla="val 10000"/>
            </a:avLst>
          </a:prstGeom>
          <a:solidFill>
            <a:srgbClr val="DDF0EF"/>
          </a:solidFill>
          <a:ln w="12700">
            <a:solidFill>
              <a:srgbClr val="DDF0E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66928" y="146304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91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 </a:t>
            </a:r>
            <a:pPr indent="0" marL="0">
              <a:buNone/>
            </a:pPr>
            <a:r>
              <a:rPr lang="en-US" sz="950" dirty="0">
                <a:solidFill>
                  <a:srgbClr val="1F2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Dark, content-first UI with bold album art and a persistent mini-player.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663440" y="1463040"/>
            <a:ext cx="4023360" cy="548640"/>
          </a:xfrm>
          <a:prstGeom prst="roundRect">
            <a:avLst>
              <a:gd name="adj" fmla="val 10000"/>
            </a:avLst>
          </a:prstGeom>
          <a:solidFill>
            <a:srgbClr val="DDF0EF"/>
          </a:solidFill>
          <a:ln w="12700">
            <a:solidFill>
              <a:srgbClr val="DDF0E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773168" y="146304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91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  </a:t>
            </a:r>
            <a:pPr indent="0" marL="0">
              <a:buNone/>
            </a:pPr>
            <a:r>
              <a:rPr lang="en-US" sz="950" dirty="0">
                <a:solidFill>
                  <a:srgbClr val="1F2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Personalised home, Daily Mixes and seamless queue control.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" y="2148840"/>
            <a:ext cx="4023360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D5E4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286000"/>
            <a:ext cx="64008" cy="274320"/>
          </a:xfrm>
          <a:prstGeom prst="rect">
            <a:avLst/>
          </a:prstGeom>
          <a:solidFill>
            <a:srgbClr val="14919B"/>
          </a:solidFill>
          <a:ln w="12700">
            <a:solidFill>
              <a:srgbClr val="14919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" y="22402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91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/ UX Strengths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274320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F2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mini-player keeps playback controls reachable on every screen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F2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Album-art-led cards make browsing visual and fast to scan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F2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Shelves like Made For You turn a huge catalogue into a short list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F2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Gesture support (swipe to queue, long-press for options) feels native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63440" y="2148840"/>
            <a:ext cx="4023360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D5E4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63440" y="2286000"/>
            <a:ext cx="64008" cy="274320"/>
          </a:xfrm>
          <a:prstGeom prst="rect">
            <a:avLst/>
          </a:prstGeom>
          <a:solidFill>
            <a:srgbClr val="D1603D"/>
          </a:solidFill>
          <a:ln w="12700">
            <a:solidFill>
              <a:srgbClr val="D1603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846320" y="22402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16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Friction Points &amp; Opportunities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846320" y="274320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F2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Free-tier ads and shuffle limits interrupt the listening flow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F2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Library, search and Premium upsells compete in a crowded bottom bar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F2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settings and audio-quality controls are hard to find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4800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F7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UI/UX Design Review  •  v2</a:t>
            </a:r>
            <a:endParaRPr lang="en-US" sz="800" dirty="0"/>
          </a:p>
        </p:txBody>
      </p:sp>
      <p:sp>
        <p:nvSpPr>
          <p:cNvPr id="21" name="Text 19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F7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28600"/>
            <a:ext cx="8595360" cy="777240"/>
          </a:xfrm>
          <a:prstGeom prst="roundRect">
            <a:avLst>
              <a:gd name="adj" fmla="val 47059"/>
            </a:avLst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20040"/>
            <a:ext cx="594360" cy="594360"/>
          </a:xfrm>
          <a:prstGeom prst="ellipse">
            <a:avLst/>
          </a:prstGeom>
          <a:solidFill>
            <a:srgbClr val="58CC0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3200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27432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Duolingo</a:t>
            </a:r>
            <a:endParaRPr lang="en-US" sz="2000" dirty="0"/>
          </a:p>
          <a:p>
            <a:pPr indent="0" marL="0">
              <a:buNone/>
            </a:pPr>
            <a:r>
              <a:rPr lang="en-US" sz="1000" dirty="0">
                <a:solidFill>
                  <a:srgbClr val="CFE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 — Language Learning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040880" y="27432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8.8</a:t>
            </a:r>
            <a:endParaRPr lang="en-US" sz="2400" dirty="0"/>
          </a:p>
          <a:p>
            <a:pPr algn="r" indent="0" marL="0">
              <a:buNone/>
            </a:pPr>
            <a:r>
              <a:rPr lang="en-US" sz="800" dirty="0">
                <a:solidFill>
                  <a:srgbClr val="CFE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/10 UX SCORE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F7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goal: make daily practice feel like a game you do not want to break.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463040"/>
            <a:ext cx="4023360" cy="548640"/>
          </a:xfrm>
          <a:prstGeom prst="roundRect">
            <a:avLst>
              <a:gd name="adj" fmla="val 10000"/>
            </a:avLst>
          </a:prstGeom>
          <a:solidFill>
            <a:srgbClr val="DDF0EF"/>
          </a:solidFill>
          <a:ln w="12700">
            <a:solidFill>
              <a:srgbClr val="DDF0E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66928" y="146304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91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 </a:t>
            </a:r>
            <a:pPr indent="0" marL="0">
              <a:buNone/>
            </a:pPr>
            <a:r>
              <a:rPr lang="en-US" sz="950" dirty="0">
                <a:solidFill>
                  <a:srgbClr val="1F2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Playful illustrations, rounded buttons and a clear learning path.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663440" y="1463040"/>
            <a:ext cx="4023360" cy="548640"/>
          </a:xfrm>
          <a:prstGeom prst="roundRect">
            <a:avLst>
              <a:gd name="adj" fmla="val 10000"/>
            </a:avLst>
          </a:prstGeom>
          <a:solidFill>
            <a:srgbClr val="DDF0EF"/>
          </a:solidFill>
          <a:ln w="12700">
            <a:solidFill>
              <a:srgbClr val="DDF0E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773168" y="146304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91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  </a:t>
            </a:r>
            <a:pPr indent="0" marL="0">
              <a:buNone/>
            </a:pPr>
            <a:r>
              <a:rPr lang="en-US" sz="950" dirty="0">
                <a:solidFill>
                  <a:srgbClr val="1F2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lessons, instant feedback and streaks that build habit.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" y="2148840"/>
            <a:ext cx="4023360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D5E4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286000"/>
            <a:ext cx="64008" cy="274320"/>
          </a:xfrm>
          <a:prstGeom prst="rect">
            <a:avLst/>
          </a:prstGeom>
          <a:solidFill>
            <a:srgbClr val="14919B"/>
          </a:solidFill>
          <a:ln w="12700">
            <a:solidFill>
              <a:srgbClr val="14919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" y="22402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91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/ UX Strengths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274320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F2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winding path shows exactly what to do next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F2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colour and sound feedback on every answer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F2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Streaks, XP and leagues drive daily retention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F2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sets a goal and level in under a minute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63440" y="2148840"/>
            <a:ext cx="4023360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D5E4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63440" y="2286000"/>
            <a:ext cx="64008" cy="274320"/>
          </a:xfrm>
          <a:prstGeom prst="rect">
            <a:avLst/>
          </a:prstGeom>
          <a:solidFill>
            <a:srgbClr val="D1603D"/>
          </a:solidFill>
          <a:ln w="12700">
            <a:solidFill>
              <a:srgbClr val="D1603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846320" y="22402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16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Friction Points &amp; Opportunities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846320" y="274320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F2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Hearts and ads limit practice at moments of high motivation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F2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Gamification can overshadow real learning progress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F2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 explanations are tucked away behind small tips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4800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F7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UI/UX Design Review  •  v2</a:t>
            </a:r>
            <a:endParaRPr lang="en-US" sz="800" dirty="0"/>
          </a:p>
        </p:txBody>
      </p:sp>
      <p:sp>
        <p:nvSpPr>
          <p:cNvPr id="21" name="Text 19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F7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28600"/>
            <a:ext cx="8595360" cy="777240"/>
          </a:xfrm>
          <a:prstGeom prst="roundRect">
            <a:avLst>
              <a:gd name="adj" fmla="val 47059"/>
            </a:avLst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20040"/>
            <a:ext cx="594360" cy="594360"/>
          </a:xfrm>
          <a:prstGeom prst="ellipse">
            <a:avLst/>
          </a:prstGeom>
          <a:solidFill>
            <a:srgbClr val="4285F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3200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27432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Maps</a:t>
            </a:r>
            <a:endParaRPr lang="en-US" sz="2000" dirty="0"/>
          </a:p>
          <a:p>
            <a:pPr indent="0" marL="0">
              <a:buNone/>
            </a:pPr>
            <a:r>
              <a:rPr lang="en-US" sz="1000" dirty="0">
                <a:solidFill>
                  <a:srgbClr val="CFE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— Maps &amp; Local Search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040880" y="27432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8.5</a:t>
            </a:r>
            <a:endParaRPr lang="en-US" sz="2400" dirty="0"/>
          </a:p>
          <a:p>
            <a:pPr algn="r" indent="0" marL="0">
              <a:buNone/>
            </a:pPr>
            <a:r>
              <a:rPr lang="en-US" sz="800" dirty="0">
                <a:solidFill>
                  <a:srgbClr val="CFE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/10 UX SCORE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F7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goal: get anyone from A to B with minimum thought and maximum trust.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463040"/>
            <a:ext cx="4023360" cy="548640"/>
          </a:xfrm>
          <a:prstGeom prst="roundRect">
            <a:avLst>
              <a:gd name="adj" fmla="val 10000"/>
            </a:avLst>
          </a:prstGeom>
          <a:solidFill>
            <a:srgbClr val="DDF0EF"/>
          </a:solidFill>
          <a:ln w="12700">
            <a:solidFill>
              <a:srgbClr val="DDF0E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66928" y="146304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91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 </a:t>
            </a:r>
            <a:pPr indent="0" marL="0">
              <a:buNone/>
            </a:pPr>
            <a:r>
              <a:rPr lang="en-US" sz="950" dirty="0">
                <a:solidFill>
                  <a:srgbClr val="1F2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Map-first layout with a floating search bar and bottom sheet.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663440" y="1463040"/>
            <a:ext cx="4023360" cy="548640"/>
          </a:xfrm>
          <a:prstGeom prst="roundRect">
            <a:avLst>
              <a:gd name="adj" fmla="val 10000"/>
            </a:avLst>
          </a:prstGeom>
          <a:solidFill>
            <a:srgbClr val="DDF0EF"/>
          </a:solidFill>
          <a:ln w="12700">
            <a:solidFill>
              <a:srgbClr val="DDF0E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773168" y="146304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91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  </a:t>
            </a:r>
            <a:pPr indent="0" marL="0">
              <a:buNone/>
            </a:pPr>
            <a:r>
              <a:rPr lang="en-US" sz="950" dirty="0">
                <a:solidFill>
                  <a:srgbClr val="1F2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traffic, rerouting and rich place details in one place.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" y="2148840"/>
            <a:ext cx="4023360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D5E4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286000"/>
            <a:ext cx="64008" cy="274320"/>
          </a:xfrm>
          <a:prstGeom prst="rect">
            <a:avLst/>
          </a:prstGeom>
          <a:solidFill>
            <a:srgbClr val="14919B"/>
          </a:solidFill>
          <a:ln w="12700">
            <a:solidFill>
              <a:srgbClr val="14919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" y="22402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91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/ UX Strengths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274320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F2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sheet reveals detail progressively without hiding the map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F2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Turn-by-turn view uses large type and strong contrast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F2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Colour-coded routes make traffic delays obvious at a glance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F2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places and Explore tabs reduce repeated typing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63440" y="2148840"/>
            <a:ext cx="4023360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D5E4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63440" y="2286000"/>
            <a:ext cx="64008" cy="274320"/>
          </a:xfrm>
          <a:prstGeom prst="rect">
            <a:avLst/>
          </a:prstGeom>
          <a:solidFill>
            <a:srgbClr val="D1603D"/>
          </a:solidFill>
          <a:ln w="12700">
            <a:solidFill>
              <a:srgbClr val="D1603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846320" y="22402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16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Friction Points &amp; Opportunities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846320" y="274320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F2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Layers, filters and pins crowd the map in dense cities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F2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Newer features (reviews, photos, ads) add clutter to place cards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F2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maps and sharing options are not obvious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4800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F7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UI/UX Design Review  •  v2</a:t>
            </a:r>
            <a:endParaRPr lang="en-US" sz="800" dirty="0"/>
          </a:p>
        </p:txBody>
      </p:sp>
      <p:sp>
        <p:nvSpPr>
          <p:cNvPr id="21" name="Text 19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F7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28600"/>
            <a:ext cx="8595360" cy="777240"/>
          </a:xfrm>
          <a:prstGeom prst="roundRect">
            <a:avLst>
              <a:gd name="adj" fmla="val 47059"/>
            </a:avLst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20040"/>
            <a:ext cx="594360" cy="594360"/>
          </a:xfrm>
          <a:prstGeom prst="ellipse">
            <a:avLst/>
          </a:prstGeom>
          <a:solidFill>
            <a:srgbClr val="FC801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3200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27432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Swiggy</a:t>
            </a:r>
            <a:endParaRPr lang="en-US" sz="2000" dirty="0"/>
          </a:p>
          <a:p>
            <a:pPr indent="0" marL="0">
              <a:buNone/>
            </a:pPr>
            <a:r>
              <a:rPr lang="en-US" sz="1000" dirty="0">
                <a:solidFill>
                  <a:srgbClr val="CFE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Delivery — Restaurants &amp; Grocery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040880" y="27432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7.8</a:t>
            </a:r>
            <a:endParaRPr lang="en-US" sz="2400" dirty="0"/>
          </a:p>
          <a:p>
            <a:pPr algn="r" indent="0" marL="0">
              <a:buNone/>
            </a:pPr>
            <a:r>
              <a:rPr lang="en-US" sz="800" dirty="0">
                <a:solidFill>
                  <a:srgbClr val="CFE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/10 UX SCORE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F7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goal: move from craving to checkout in as few taps as possible.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463040"/>
            <a:ext cx="4023360" cy="548640"/>
          </a:xfrm>
          <a:prstGeom prst="roundRect">
            <a:avLst>
              <a:gd name="adj" fmla="val 10000"/>
            </a:avLst>
          </a:prstGeom>
          <a:solidFill>
            <a:srgbClr val="DDF0EF"/>
          </a:solidFill>
          <a:ln w="12700">
            <a:solidFill>
              <a:srgbClr val="DDF0E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66928" y="146304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91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 </a:t>
            </a:r>
            <a:pPr indent="0" marL="0">
              <a:buNone/>
            </a:pPr>
            <a:r>
              <a:rPr lang="en-US" sz="950" dirty="0">
                <a:solidFill>
                  <a:srgbClr val="1F2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Orange brand colour, food photography and card-based restaurant lists.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663440" y="1463040"/>
            <a:ext cx="4023360" cy="548640"/>
          </a:xfrm>
          <a:prstGeom prst="roundRect">
            <a:avLst>
              <a:gd name="adj" fmla="val 10000"/>
            </a:avLst>
          </a:prstGeom>
          <a:solidFill>
            <a:srgbClr val="DDF0EF"/>
          </a:solidFill>
          <a:ln w="12700">
            <a:solidFill>
              <a:srgbClr val="DDF0E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773168" y="146304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91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  </a:t>
            </a:r>
            <a:pPr indent="0" marL="0">
              <a:buNone/>
            </a:pPr>
            <a:r>
              <a:rPr lang="en-US" sz="950" dirty="0">
                <a:solidFill>
                  <a:srgbClr val="1F2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search, reorder and live order tracking.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" y="2148840"/>
            <a:ext cx="4023360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D5E4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286000"/>
            <a:ext cx="64008" cy="274320"/>
          </a:xfrm>
          <a:prstGeom prst="rect">
            <a:avLst/>
          </a:prstGeom>
          <a:solidFill>
            <a:srgbClr val="14919B"/>
          </a:solidFill>
          <a:ln w="12700">
            <a:solidFill>
              <a:srgbClr val="14919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" y="22402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91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/ UX Strengths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274320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F2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photos and ratings help quick decisions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F2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tracking map reduces order anxiety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F2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One-tap reorder and saved addresses speed up repeat orders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F2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Offers are shown on cards at the point of choice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63440" y="2148840"/>
            <a:ext cx="4023360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D5E4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63440" y="2286000"/>
            <a:ext cx="64008" cy="274320"/>
          </a:xfrm>
          <a:prstGeom prst="rect">
            <a:avLst/>
          </a:prstGeom>
          <a:solidFill>
            <a:srgbClr val="D1603D"/>
          </a:solidFill>
          <a:ln w="12700">
            <a:solidFill>
              <a:srgbClr val="D1603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846320" y="22402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16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Friction Points &amp; Opportunities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846320" y="274320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F2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screen carries banners, carousels and offers all at once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F2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Fees and totals appear late, only at checkout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F2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Switching between food and Instamart feels like two apps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4800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F7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UI/UX Design Review  •  v2</a:t>
            </a:r>
            <a:endParaRPr lang="en-US" sz="800" dirty="0"/>
          </a:p>
        </p:txBody>
      </p:sp>
      <p:sp>
        <p:nvSpPr>
          <p:cNvPr id="21" name="Text 19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F7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28600"/>
            <a:ext cx="8595360" cy="777240"/>
          </a:xfrm>
          <a:prstGeom prst="roundRect">
            <a:avLst>
              <a:gd name="adj" fmla="val 47059"/>
            </a:avLst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20040"/>
            <a:ext cx="594360" cy="594360"/>
          </a:xfrm>
          <a:prstGeom prst="ellipse">
            <a:avLst/>
          </a:prstGeom>
          <a:solidFill>
            <a:srgbClr val="19191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3200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27432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Notion</a:t>
            </a:r>
            <a:endParaRPr lang="en-US" sz="2000" dirty="0"/>
          </a:p>
          <a:p>
            <a:pPr indent="0" marL="0">
              <a:buNone/>
            </a:pPr>
            <a:r>
              <a:rPr lang="en-US" sz="1000" dirty="0">
                <a:solidFill>
                  <a:srgbClr val="CFE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Productivity — Notes &amp; Workspace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040880" y="27432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7.3</a:t>
            </a:r>
            <a:endParaRPr lang="en-US" sz="2400" dirty="0"/>
          </a:p>
          <a:p>
            <a:pPr algn="r" indent="0" marL="0">
              <a:buNone/>
            </a:pPr>
            <a:r>
              <a:rPr lang="en-US" sz="800" dirty="0">
                <a:solidFill>
                  <a:srgbClr val="CFE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/10 UX SCORE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F7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goal: give people one flexible space for notes, tasks and docs.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463040"/>
            <a:ext cx="4023360" cy="548640"/>
          </a:xfrm>
          <a:prstGeom prst="roundRect">
            <a:avLst>
              <a:gd name="adj" fmla="val 10000"/>
            </a:avLst>
          </a:prstGeom>
          <a:solidFill>
            <a:srgbClr val="DDF0EF"/>
          </a:solidFill>
          <a:ln w="12700">
            <a:solidFill>
              <a:srgbClr val="DDF0E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66928" y="146304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91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 </a:t>
            </a:r>
            <a:pPr indent="0" marL="0">
              <a:buNone/>
            </a:pPr>
            <a:r>
              <a:rPr lang="en-US" sz="950" dirty="0">
                <a:solidFill>
                  <a:srgbClr val="1F2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Minimal, monochrome canvas with a collapsible sidebar.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663440" y="1463040"/>
            <a:ext cx="4023360" cy="548640"/>
          </a:xfrm>
          <a:prstGeom prst="roundRect">
            <a:avLst>
              <a:gd name="adj" fmla="val 10000"/>
            </a:avLst>
          </a:prstGeom>
          <a:solidFill>
            <a:srgbClr val="DDF0EF"/>
          </a:solidFill>
          <a:ln w="12700">
            <a:solidFill>
              <a:srgbClr val="DDF0E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773168" y="146304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91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  </a:t>
            </a:r>
            <a:pPr indent="0" marL="0">
              <a:buNone/>
            </a:pPr>
            <a:r>
              <a:rPr lang="en-US" sz="950" dirty="0">
                <a:solidFill>
                  <a:srgbClr val="1F2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Blocks, templates and databases adapt to many workflows.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" y="2148840"/>
            <a:ext cx="4023360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D5E4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286000"/>
            <a:ext cx="64008" cy="274320"/>
          </a:xfrm>
          <a:prstGeom prst="rect">
            <a:avLst/>
          </a:prstGeom>
          <a:solidFill>
            <a:srgbClr val="14919B"/>
          </a:solidFill>
          <a:ln w="12700">
            <a:solidFill>
              <a:srgbClr val="14919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" y="22402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91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/ UX Strengths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274320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F2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Block-based editing is consistent across pages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F2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Slash commands let users add content without menus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F2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 give new users a working starting point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F2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Sidebar hierarchy mirrors how people organise ideas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63440" y="2148840"/>
            <a:ext cx="4023360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D5E4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63440" y="2286000"/>
            <a:ext cx="64008" cy="274320"/>
          </a:xfrm>
          <a:prstGeom prst="rect">
            <a:avLst/>
          </a:prstGeom>
          <a:solidFill>
            <a:srgbClr val="D1603D"/>
          </a:solidFill>
          <a:ln w="12700">
            <a:solidFill>
              <a:srgbClr val="D1603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846320" y="22402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16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Friction Points &amp; Opportunities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846320" y="274320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F2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editing is slower and more limited than desktop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F2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Blank-page start overwhelms first-time users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F2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Databases and relations have a steep learning curve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4800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F7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UI/UX Design Review  •  v2</a:t>
            </a:r>
            <a:endParaRPr lang="en-US" sz="800" dirty="0"/>
          </a:p>
        </p:txBody>
      </p:sp>
      <p:sp>
        <p:nvSpPr>
          <p:cNvPr id="21" name="Text 19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F7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COMPARATIVE ANALYSIS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 Heuristic Scores Across Apps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51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7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Scored 1–10 on Nielsen-informed heuristics: Navigation, Visual Design, Onboarding and Personalization.</a:t>
            </a:r>
            <a:endParaRPr lang="en-US" sz="11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371600"/>
          <a:ext cx="8229600" cy="3337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4800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F7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UI/UX Design Review  •  v2</a:t>
            </a:r>
            <a:endParaRPr lang="en-US" sz="800" dirty="0"/>
          </a:p>
        </p:txBody>
      </p:sp>
      <p:sp>
        <p:nvSpPr>
          <p:cNvPr id="7" name="Text 4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F7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Cross-App UI/UX Patterns Observed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5E4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463040"/>
            <a:ext cx="365760" cy="365760"/>
          </a:xfrm>
          <a:prstGeom prst="ellipse">
            <a:avLst/>
          </a:prstGeom>
          <a:solidFill>
            <a:srgbClr val="14919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463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14173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Content-First Design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96596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F2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Spotify, Swiggy and Google Maps lead with imagery or maps, so the main content does the talking.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46120" y="128016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5E4E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29000" y="1463040"/>
            <a:ext cx="365760" cy="365760"/>
          </a:xfrm>
          <a:prstGeom prst="ellipse">
            <a:avLst/>
          </a:prstGeom>
          <a:solidFill>
            <a:srgbClr val="14919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29000" y="1463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886200" y="14173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Progressive Disclosure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3429000" y="196596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F2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Maps and Notion reveal detail only when needed, keeping first views calm.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035040" y="128016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5E4E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17920" y="1463040"/>
            <a:ext cx="365760" cy="365760"/>
          </a:xfrm>
          <a:prstGeom prst="ellipse">
            <a:avLst/>
          </a:prstGeom>
          <a:solidFill>
            <a:srgbClr val="14919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17920" y="1463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675120" y="14173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Gamification Drives Habit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6217920" y="196596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F2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Duolingo streaks and Spotify Wrapped-style recaps turn one-off use into routine.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200" y="297180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5E4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" y="3154680"/>
            <a:ext cx="365760" cy="365760"/>
          </a:xfrm>
          <a:prstGeom prst="ellipse">
            <a:avLst/>
          </a:prstGeom>
          <a:solidFill>
            <a:srgbClr val="14919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" y="3154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097280" y="31089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Personalization Builds Loyalty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365760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F2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Spotify mixes and Swiggy reorders cut effort by learning from past behaviour.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246120" y="297180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5E4E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29000" y="3154680"/>
            <a:ext cx="365760" cy="365760"/>
          </a:xfrm>
          <a:prstGeom prst="ellipse">
            <a:avLst/>
          </a:prstGeom>
          <a:solidFill>
            <a:srgbClr val="14919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429000" y="3154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3886200" y="31089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Anchors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3429000" y="365760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F2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Mini-players, floating search and tab bars keep users oriented at all times.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035040" y="297180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5E4E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217920" y="3154680"/>
            <a:ext cx="365760" cy="365760"/>
          </a:xfrm>
          <a:prstGeom prst="ellipse">
            <a:avLst/>
          </a:prstGeom>
          <a:solidFill>
            <a:srgbClr val="D1603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217920" y="3154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6675120" y="31089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Monetization Is the Weak Link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6217920" y="365760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F2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Ads, hearts and upsells appear at high-friction moments across Spotify, Duolingo and Swiggy.</a:t>
            </a:r>
            <a:endParaRPr lang="en-US" sz="95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4800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F7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UI/UX Design Review  •  v2</a:t>
            </a:r>
            <a:endParaRPr lang="en-US" sz="800" dirty="0"/>
          </a:p>
        </p:txBody>
      </p:sp>
      <p:sp>
        <p:nvSpPr>
          <p:cNvPr id="35" name="Text 33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F7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RECOMMENDATIONS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Every Team Should Take Away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5E4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71600"/>
            <a:ext cx="64008" cy="548640"/>
          </a:xfrm>
          <a:prstGeom prst="rect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280160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91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2801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monetization to natural breakpoints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5F7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ads and upsells after a song, lesson or order — never in the middle of one.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130552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5E4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221992"/>
            <a:ext cx="64008" cy="548640"/>
          </a:xfrm>
          <a:prstGeom prst="rect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2130552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91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2130552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dense screens scannable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5F7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 competing banners and layers, as seen on Swiggy and Google Maps.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980944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5E4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3072384"/>
            <a:ext cx="64008" cy="548640"/>
          </a:xfrm>
          <a:prstGeom prst="rect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2980944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91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2980944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advanced features discoverable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5F7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tooltips and templates so Notion-style power tools do not overwhelm beginners.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831336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5E4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922776"/>
            <a:ext cx="64008" cy="548640"/>
          </a:xfrm>
          <a:prstGeom prst="rect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85800" y="3831336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91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1234440" y="3831336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costs and limits early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5F7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fees (Swiggy) and hearts or ad limits (Duolingo) before the user commits.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4800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F7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UI/UX Design Review  •  v2</a:t>
            </a:r>
            <a:endParaRPr lang="en-US" sz="800" dirty="0"/>
          </a:p>
        </p:txBody>
      </p:sp>
      <p:sp>
        <p:nvSpPr>
          <p:cNvPr id="21" name="Text 19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F7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UX Is Built Around One Job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801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FE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strongest apps design the interface around the single job the user came to do, then hide everything else until it is needed.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1463040" cy="2011680"/>
          </a:xfrm>
          <a:prstGeom prst="roundRect">
            <a:avLst>
              <a:gd name="adj" fmla="val 6250"/>
            </a:avLst>
          </a:prstGeom>
          <a:solidFill>
            <a:srgbClr val="14919B">
              <a:alpha val="30000"/>
            </a:srgbClr>
          </a:solidFill>
          <a:ln w="12700">
            <a:solidFill>
              <a:srgbClr val="14919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2423160"/>
            <a:ext cx="640080" cy="640080"/>
          </a:xfrm>
          <a:prstGeom prst="ellipse">
            <a:avLst/>
          </a:prstGeom>
          <a:solidFill>
            <a:srgbClr val="1DB95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0120" y="2423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1546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Spotify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4747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8.9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93192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FE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 SCORE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194560" y="2286000"/>
            <a:ext cx="1463040" cy="2011680"/>
          </a:xfrm>
          <a:prstGeom prst="roundRect">
            <a:avLst>
              <a:gd name="adj" fmla="val 6250"/>
            </a:avLst>
          </a:prstGeom>
          <a:solidFill>
            <a:srgbClr val="14919B">
              <a:alpha val="30000"/>
            </a:srgbClr>
          </a:solidFill>
          <a:ln w="12700">
            <a:solidFill>
              <a:srgbClr val="14919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06040" y="2423160"/>
            <a:ext cx="640080" cy="640080"/>
          </a:xfrm>
          <a:prstGeom prst="ellipse">
            <a:avLst/>
          </a:prstGeom>
          <a:solidFill>
            <a:srgbClr val="58CC0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606040" y="2423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2194560" y="31546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Duolingo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2194560" y="34747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8.8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2194560" y="393192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FE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 SCORE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840480" y="2286000"/>
            <a:ext cx="1463040" cy="2011680"/>
          </a:xfrm>
          <a:prstGeom prst="roundRect">
            <a:avLst>
              <a:gd name="adj" fmla="val 6250"/>
            </a:avLst>
          </a:prstGeom>
          <a:solidFill>
            <a:srgbClr val="14919B">
              <a:alpha val="30000"/>
            </a:srgbClr>
          </a:solidFill>
          <a:ln w="12700">
            <a:solidFill>
              <a:srgbClr val="14919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251960" y="2423160"/>
            <a:ext cx="640080" cy="640080"/>
          </a:xfrm>
          <a:prstGeom prst="ellipse">
            <a:avLst/>
          </a:prstGeom>
          <a:solidFill>
            <a:srgbClr val="4285F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251960" y="2423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2400" dirty="0"/>
          </a:p>
        </p:txBody>
      </p:sp>
      <p:sp>
        <p:nvSpPr>
          <p:cNvPr id="20" name="Text 18"/>
          <p:cNvSpPr txBox="1"/>
          <p:nvPr/>
        </p:nvSpPr>
        <p:spPr>
          <a:xfrm>
            <a:off x="3840480" y="31546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Maps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3840480" y="34747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8.5</a:t>
            </a:r>
            <a:endParaRPr lang="en-US" sz="2600" dirty="0"/>
          </a:p>
        </p:txBody>
      </p:sp>
      <p:sp>
        <p:nvSpPr>
          <p:cNvPr id="22" name="Text 20"/>
          <p:cNvSpPr txBox="1"/>
          <p:nvPr/>
        </p:nvSpPr>
        <p:spPr>
          <a:xfrm>
            <a:off x="3840480" y="393192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FE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 SCORE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5486400" y="2286000"/>
            <a:ext cx="1463040" cy="2011680"/>
          </a:xfrm>
          <a:prstGeom prst="roundRect">
            <a:avLst>
              <a:gd name="adj" fmla="val 6250"/>
            </a:avLst>
          </a:prstGeom>
          <a:solidFill>
            <a:srgbClr val="14919B">
              <a:alpha val="30000"/>
            </a:srgbClr>
          </a:solidFill>
          <a:ln w="12700">
            <a:solidFill>
              <a:srgbClr val="14919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897880" y="2423160"/>
            <a:ext cx="640080" cy="640080"/>
          </a:xfrm>
          <a:prstGeom prst="ellipse">
            <a:avLst/>
          </a:prstGeom>
          <a:solidFill>
            <a:srgbClr val="FC801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897880" y="2423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24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0" y="31546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Swiggy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0" y="34747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7.8</a:t>
            </a:r>
            <a:endParaRPr lang="en-US" sz="26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0" y="393192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FE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 SCORE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7132320" y="2286000"/>
            <a:ext cx="1463040" cy="2011680"/>
          </a:xfrm>
          <a:prstGeom prst="roundRect">
            <a:avLst>
              <a:gd name="adj" fmla="val 6250"/>
            </a:avLst>
          </a:prstGeom>
          <a:solidFill>
            <a:srgbClr val="14919B">
              <a:alpha val="30000"/>
            </a:srgbClr>
          </a:solidFill>
          <a:ln w="12700">
            <a:solidFill>
              <a:srgbClr val="14919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543800" y="2423160"/>
            <a:ext cx="640080" cy="640080"/>
          </a:xfrm>
          <a:prstGeom prst="ellipse">
            <a:avLst/>
          </a:prstGeom>
          <a:solidFill>
            <a:srgbClr val="19191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543800" y="2423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2400" dirty="0"/>
          </a:p>
        </p:txBody>
      </p:sp>
      <p:sp>
        <p:nvSpPr>
          <p:cNvPr id="32" name="Text 30"/>
          <p:cNvSpPr txBox="1"/>
          <p:nvPr/>
        </p:nvSpPr>
        <p:spPr>
          <a:xfrm>
            <a:off x="7132320" y="31546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Notion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7132320" y="34747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7.3</a:t>
            </a:r>
            <a:endParaRPr lang="en-US" sz="2600" dirty="0"/>
          </a:p>
        </p:txBody>
      </p:sp>
      <p:sp>
        <p:nvSpPr>
          <p:cNvPr id="34" name="Text 32"/>
          <p:cNvSpPr txBox="1"/>
          <p:nvPr/>
        </p:nvSpPr>
        <p:spPr>
          <a:xfrm>
            <a:off x="7132320" y="393192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FE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 SCORE</a:t>
            </a:r>
            <a:endParaRPr lang="en-US" sz="800" dirty="0"/>
          </a:p>
        </p:txBody>
      </p:sp>
      <p:sp>
        <p:nvSpPr>
          <p:cNvPr id="35" name="Text 33"/>
          <p:cNvSpPr txBox="1"/>
          <p:nvPr/>
        </p:nvSpPr>
        <p:spPr>
          <a:xfrm>
            <a:off x="548640" y="45262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FE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reflects this review's average across navigation, visual design, onboarding and personalization.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2026-10-05T16:01:09Z</dcterms:created>
  <dcterms:modified xsi:type="dcterms:W3CDTF">2026-10-05T16:01:09Z</dcterms:modified>
</cp:coreProperties>
</file>