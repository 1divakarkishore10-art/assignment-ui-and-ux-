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dfdff5c8ad43ee" /><Relationship Type="http://schemas.openxmlformats.org/officeDocument/2006/relationships/extended-properties" Target="/docProps/app.xml" Id="Rb7bb151ec9f145f3" /><Relationship Type="http://schemas.openxmlformats.org/officeDocument/2006/relationships/officeDocument" Target="/ppt/presentation.xml" Id="R2d26b1a68e0942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57952820604874"/>
  </p:sldMasterIdLst>
  <p:notesMasterIdLst>
    <p:notesMasterId xmlns:r="http://schemas.openxmlformats.org/officeDocument/2006/relationships" r:id="Rccfa7ae715eb4204"/>
  </p:notesMasterIdLst>
  <p:sldIdLst>
    <p:sldId xmlns:r="http://schemas.openxmlformats.org/officeDocument/2006/relationships" id="256" r:id="R964e244578664503"/>
    <p:sldId xmlns:r="http://schemas.openxmlformats.org/officeDocument/2006/relationships" id="257" r:id="R69b913fa2f0c416a"/>
    <p:sldId xmlns:r="http://schemas.openxmlformats.org/officeDocument/2006/relationships" id="258" r:id="Ra1566d2054204961"/>
    <p:sldId xmlns:r="http://schemas.openxmlformats.org/officeDocument/2006/relationships" id="259" r:id="R3f73a790721d4b5c"/>
    <p:sldId xmlns:r="http://schemas.openxmlformats.org/officeDocument/2006/relationships" id="260" r:id="Rd822a4aa2305477e"/>
    <p:sldId xmlns:r="http://schemas.openxmlformats.org/officeDocument/2006/relationships" id="261" r:id="Rf95e7afa0772426b"/>
    <p:sldId xmlns:r="http://schemas.openxmlformats.org/officeDocument/2006/relationships" id="262" r:id="R531127c8b84c4e9f"/>
    <p:sldId xmlns:r="http://schemas.openxmlformats.org/officeDocument/2006/relationships" id="263" r:id="R44ac70f8727d4c18"/>
    <p:sldId xmlns:r="http://schemas.openxmlformats.org/officeDocument/2006/relationships" id="264" r:id="Ra4e77ac6dd944e8a"/>
    <p:sldId xmlns:r="http://schemas.openxmlformats.org/officeDocument/2006/relationships" id="265" r:id="R9767a00fe09942a4"/>
    <p:sldId xmlns:r="http://schemas.openxmlformats.org/officeDocument/2006/relationships" id="266" r:id="R91ac1a4ce7df4d1c"/>
    <p:sldId xmlns:r="http://schemas.openxmlformats.org/officeDocument/2006/relationships" id="267" r:id="R1bfe3352f11843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2ff4c2cccf4194" /><Relationship Type="http://schemas.openxmlformats.org/officeDocument/2006/relationships/slideMaster" Target="/ppt/slideMasters/slideMaster1.xml" Id="R8957952820604874" /><Relationship Type="http://schemas.openxmlformats.org/officeDocument/2006/relationships/notesMaster" Target="/ppt/notesMasters/notesMaster1.xml" Id="Rccfa7ae715eb4204" /><Relationship Type="http://schemas.openxmlformats.org/officeDocument/2006/relationships/presProps" Target="/ppt/presProps.xml" Id="R1396cde6d3514bff" /><Relationship Type="http://schemas.openxmlformats.org/officeDocument/2006/relationships/tableStyles" Target="/ppt/tableStyles.xml" Id="R59cd38ded7084ae9" /><Relationship Type="http://schemas.openxmlformats.org/officeDocument/2006/relationships/slide" Target="/ppt/slides/slide1.xml" Id="R964e244578664503" /><Relationship Type="http://schemas.openxmlformats.org/officeDocument/2006/relationships/slide" Target="/ppt/slides/slide2.xml" Id="R69b913fa2f0c416a" /><Relationship Type="http://schemas.openxmlformats.org/officeDocument/2006/relationships/slide" Target="/ppt/slides/slide3.xml" Id="Ra1566d2054204961" /><Relationship Type="http://schemas.openxmlformats.org/officeDocument/2006/relationships/slide" Target="/ppt/slides/slide4.xml" Id="R3f73a790721d4b5c" /><Relationship Type="http://schemas.openxmlformats.org/officeDocument/2006/relationships/slide" Target="/ppt/slides/slide5.xml" Id="Rd822a4aa2305477e" /><Relationship Type="http://schemas.openxmlformats.org/officeDocument/2006/relationships/slide" Target="/ppt/slides/slide6.xml" Id="Rf95e7afa0772426b" /><Relationship Type="http://schemas.openxmlformats.org/officeDocument/2006/relationships/slide" Target="/ppt/slides/slide7.xml" Id="R531127c8b84c4e9f" /><Relationship Type="http://schemas.openxmlformats.org/officeDocument/2006/relationships/slide" Target="/ppt/slides/slide8.xml" Id="R44ac70f8727d4c18" /><Relationship Type="http://schemas.openxmlformats.org/officeDocument/2006/relationships/slide" Target="/ppt/slides/slide9.xml" Id="Ra4e77ac6dd944e8a" /><Relationship Type="http://schemas.openxmlformats.org/officeDocument/2006/relationships/slide" Target="/ppt/slides/slide10.xml" Id="R9767a00fe09942a4" /><Relationship Type="http://schemas.openxmlformats.org/officeDocument/2006/relationships/slide" Target="/ppt/slides/slide11.xml" Id="R91ac1a4ce7df4d1c" /><Relationship Type="http://schemas.openxmlformats.org/officeDocument/2006/relationships/slide" Target="/ppt/slides/slide12.xml" Id="R1bfe3352f11843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5cc3d8cee049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57e7a4369d47a9" /><Relationship Type="http://schemas.openxmlformats.org/officeDocument/2006/relationships/notesMaster" Target="/ppt/notesMasters/notesMaster1.xml" Id="Rbadb5b5d546741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43fc9e2295428a" /><Relationship Type="http://schemas.openxmlformats.org/officeDocument/2006/relationships/notesMaster" Target="/ppt/notesMasters/notesMaster1.xml" Id="R98a9ff2ac47941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a3cb27ae20466d" /><Relationship Type="http://schemas.openxmlformats.org/officeDocument/2006/relationships/notesMaster" Target="/ppt/notesMasters/notesMaster1.xml" Id="R56f3900b1a944f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f50077e4e74b97" /><Relationship Type="http://schemas.openxmlformats.org/officeDocument/2006/relationships/notesMaster" Target="/ppt/notesMasters/notesMaster1.xml" Id="Rf55bc0a839414e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6563bf2b744ce7" /><Relationship Type="http://schemas.openxmlformats.org/officeDocument/2006/relationships/notesMaster" Target="/ppt/notesMasters/notesMaster1.xml" Id="R1e99854b09c54c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c494ecb1dd424f" /><Relationship Type="http://schemas.openxmlformats.org/officeDocument/2006/relationships/notesMaster" Target="/ppt/notesMasters/notesMaster1.xml" Id="R6ba4eb5e7ded48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3c38cbc9a34b1b" /><Relationship Type="http://schemas.openxmlformats.org/officeDocument/2006/relationships/notesMaster" Target="/ppt/notesMasters/notesMaster1.xml" Id="Rf5180d20508d4b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68b161420e4c99" /><Relationship Type="http://schemas.openxmlformats.org/officeDocument/2006/relationships/notesMaster" Target="/ppt/notesMasters/notesMaster1.xml" Id="Ra37ade52566c4b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d2ba20c0c84ff8" /><Relationship Type="http://schemas.openxmlformats.org/officeDocument/2006/relationships/notesMaster" Target="/ppt/notesMasters/notesMaster1.xml" Id="R5e23c84391084e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9098d64ade4f40" /><Relationship Type="http://schemas.openxmlformats.org/officeDocument/2006/relationships/notesMaster" Target="/ppt/notesMasters/notesMaster1.xml" Id="R421073176f5343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4a2b4ac50f4ff4" /><Relationship Type="http://schemas.openxmlformats.org/officeDocument/2006/relationships/notesMaster" Target="/ppt/notesMasters/notesMaster1.xml" Id="R8ccd6014e97d49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a24ff2d11448fb" /><Relationship Type="http://schemas.openxmlformats.org/officeDocument/2006/relationships/notesMaster" Target="/ppt/notesMasters/notesMaster1.xml" Id="Rd15344c32e2c49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Angel_One_Design_Review_Report.docx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Angel_One_Design_Review_Report.docx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Angel_One_Design_Review_Report.docx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Angel_One_Design_Review_Report.docx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Angel_One_Design_Review_Report.docx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Angel_One_Design_Review_Report.docx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Angel_One_Design_Review_Report.docx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Angel_One_Design_Review_Report.docx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Angel_One_Design_Review_Report.docx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Angel_One_Design_Review_Report.docx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Angel_One_Design_Review_Report.docx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Angel_One_Design_Review_Report.docx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89a1c9f6a48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f3eee76b8f4ede" /><Relationship Type="http://schemas.openxmlformats.org/officeDocument/2006/relationships/slideLayout" Target="/ppt/slideLayouts/slideLayout1.xml" Id="Rf743702227c14d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43702227c14d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f6e8d964c42d6" /><Relationship Type="http://schemas.openxmlformats.org/officeDocument/2006/relationships/notesSlide" Target="/ppt/notesSlides/notesSlide1.xml" Id="R2f3c3d00c3f246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1b56678134ece" /><Relationship Type="http://schemas.openxmlformats.org/officeDocument/2006/relationships/notesSlide" Target="/ppt/notesSlides/notesSlide2.xml" Id="Rc4d560cb60d44d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81050019d4bc3" /><Relationship Type="http://schemas.openxmlformats.org/officeDocument/2006/relationships/notesSlide" Target="/ppt/notesSlides/notesSlide3.xml" Id="R1a103730a17748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b358840754164" /><Relationship Type="http://schemas.openxmlformats.org/officeDocument/2006/relationships/notesSlide" Target="/ppt/notesSlides/notesSlide4.xml" Id="R69c4287def8e4a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b1c2d065e4ccc" /><Relationship Type="http://schemas.openxmlformats.org/officeDocument/2006/relationships/notesSlide" Target="/ppt/notesSlides/notesSlide5.xml" Id="R0691e82dd89a4b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39433b3614dad" /><Relationship Type="http://schemas.openxmlformats.org/officeDocument/2006/relationships/notesSlide" Target="/ppt/notesSlides/notesSlide6.xml" Id="R343b1490495942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4ea3066be4ddb" /><Relationship Type="http://schemas.openxmlformats.org/officeDocument/2006/relationships/notesSlide" Target="/ppt/notesSlides/notesSlide7.xml" Id="Rd0532b8aa99040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60c07077843f6" /><Relationship Type="http://schemas.openxmlformats.org/officeDocument/2006/relationships/notesSlide" Target="/ppt/notesSlides/notesSlide8.xml" Id="R46fd090aaff742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ba9ae77334f2b" /><Relationship Type="http://schemas.openxmlformats.org/officeDocument/2006/relationships/notesSlide" Target="/ppt/notesSlides/notesSlide9.xml" Id="R6088c746eceb4e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f229704d94aff" /><Relationship Type="http://schemas.openxmlformats.org/officeDocument/2006/relationships/notesSlide" Target="/ppt/notesSlides/notesSlide10.xml" Id="R37ca6dfb5d3741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8f073c6574029" /><Relationship Type="http://schemas.openxmlformats.org/officeDocument/2006/relationships/notesSlide" Target="/ppt/notesSlides/notesSlide11.xml" Id="R7da6f2d72a5d4b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f13bce71041d2" /><Relationship Type="http://schemas.openxmlformats.org/officeDocument/2006/relationships/notesSlide" Target="/ppt/notesSlides/notesSlide12.xml" Id="Rfb9579732a1645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3FB7F-9D86-42E6-A91E-9AC427B7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33350" cy="506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EE815-E1E9-4F2E-9369-F39449AE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29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1A"/>
                </a:solidFill>
              </a:defRPr>
            </a:pPr>
            <a:r>
              <a:rPr sz="1350" b="1">
                <a:solidFill>
                  <a:srgbClr val="FF7A1A"/>
                </a:solidFill>
              </a:rPr>
              <a:t>DESIGN REVIEW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BE82C-AD1B-4D96-ADDE-1B0C2B7E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752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7FA"/>
                </a:solidFill>
              </a:defRPr>
            </a:pPr>
            <a:r>
              <a:rPr sz="4800" b="1">
                <a:solidFill>
                  <a:srgbClr val="F5F7FA"/>
                </a:solidFill>
              </a:rPr>
              <a:t>Angel One</a:t>
            </a:r>
          </a:p>
          <a:p xmlns:a="http://schemas.openxmlformats.org/drawingml/2006/main">
            <a:pPr algn="l">
              <a:defRPr sz="4800" b="1">
                <a:solidFill>
                  <a:srgbClr val="F5F7FA"/>
                </a:solidFill>
              </a:defRPr>
            </a:pPr>
            <a:r>
              <a:rPr sz="4800" b="1">
                <a:solidFill>
                  <a:srgbClr val="F5F7FA"/>
                </a:solidFill>
              </a:rPr>
              <a:t>Mobile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E62CC-6773-4ACB-AA63-BEB5DEA6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8C0CC"/>
                </a:solidFill>
              </a:defRPr>
            </a:pPr>
            <a:r>
              <a:rPr sz="1725" b="0">
                <a:solidFill>
                  <a:srgbClr val="B8C0CC"/>
                </a:solidFill>
              </a:rPr>
              <a:t>UI/UX class presentation · Finance / Stock Market Trading &amp; Investment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DBE71-5A86-456C-AB2C-8B6DB4E3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C0CC"/>
                </a:solidFill>
              </a:defRPr>
            </a:pPr>
            <a:r>
              <a:rPr sz="1350" b="1">
                <a:solidFill>
                  <a:srgbClr val="B8C0CC"/>
                </a:solidFill>
              </a:rPr>
              <a:t>Android and 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24BD2-9117-4DC9-9B74-4B209331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19200"/>
            <a:ext cx="2343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2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FBB0A-FF49-4C6F-A972-C50C2936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71625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7A1A"/>
                </a:solidFill>
              </a:defRPr>
            </a:pPr>
            <a:r>
              <a:rPr sz="5400" b="1">
                <a:solidFill>
                  <a:srgbClr val="FF7A1A"/>
                </a:solidFill>
              </a:rPr>
              <a:t>4/5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17EBB-FE6B-49A4-AB80-7711EFEB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908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A"/>
                </a:solidFill>
              </a:defRPr>
            </a:pPr>
            <a:r>
              <a:rPr sz="1425" b="1">
                <a:solidFill>
                  <a:srgbClr val="F5F7FA"/>
                </a:solidFill>
              </a:rPr>
              <a:t>Overall rating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76F6E-FE81-4062-9581-32AEF7DA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957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Clear actions, strong feedback and trust—</a:t>
            </a:r>
          </a:p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with room to simplify the Super App.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51876-CED2-418F-A2CD-50E6BE56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D2966-4B2C-4D47-8639-7ECDFE49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ANGEL ONE · UI/UX DESIGN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DB1B8-6786-4EE1-866E-1C8C7184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167322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568B9-EE6C-422A-BEF5-483323FE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1A"/>
                </a:solidFill>
              </a:defRPr>
            </a:pPr>
            <a:r>
              <a:rPr sz="900" b="1">
                <a:solidFill>
                  <a:srgbClr val="FF7A1A"/>
                </a:solidFill>
              </a:rPr>
              <a:t>DESIGN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2B055-7BD3-48B9-9680-7CE532A5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A feature-rich Super App built around investing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7B234-C653-40B2-8E13-7FFD2FC0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FD5A5-DA61-49FF-B715-1842CFAA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C9035-0D3D-49AF-AA71-043C7E3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ANGEL ONE · UI/UX DESIGN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AAE10-94BD-4FC0-9B04-AE218C84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EDBE9-72ED-46E4-AB32-B5D80DB4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C0CC"/>
                </a:solidFill>
              </a:defRPr>
            </a:pPr>
            <a:r>
              <a:rPr sz="975" b="1">
                <a:solidFill>
                  <a:srgbClr val="B8C0CC"/>
                </a:solidFill>
              </a:rPr>
              <a:t>APPLICATION SELECTED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3C9B5-52FB-434F-B893-9965903C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</a:defRPr>
            </a:pPr>
            <a:r>
              <a:rPr sz="1950" b="1">
                <a:solidFill>
                  <a:srgbClr val="F5F7FA"/>
                </a:solidFill>
              </a:rPr>
              <a:t>Angel One – Stocks, Mutual Funds, Demat Account &amp; IPO Investment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67D46-94BC-4B86-9403-34635D01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C0CC"/>
                </a:solidFill>
              </a:defRPr>
            </a:pPr>
            <a:r>
              <a:rPr sz="975" b="1">
                <a:solidFill>
                  <a:srgbClr val="B8C0CC"/>
                </a:solidFill>
              </a:rPr>
              <a:t>DESIGN 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BAD5E-9D62-4424-AC13-4446EC05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81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7FA"/>
                </a:solidFill>
              </a:defRPr>
            </a:pPr>
            <a:r>
              <a:rPr sz="1875" b="0">
                <a:solidFill>
                  <a:srgbClr val="F5F7FA"/>
                </a:solidFill>
              </a:rPr>
              <a:t>Make investing, demat management and IPO applications simple, transparent, secure and accessible for first-time and experienced investors.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5EF10-3477-4E71-B5F3-1C1ED0E5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95450"/>
            <a:ext cx="4267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D532F-479D-4BF8-B126-60995F81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81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C0CC"/>
                </a:solidFill>
              </a:defRPr>
            </a:pPr>
            <a:r>
              <a:rPr sz="975" b="1">
                <a:solidFill>
                  <a:srgbClr val="B8C0CC"/>
                </a:solidFill>
              </a:rPr>
              <a:t>ONE APP, MULTIPLE NEEDS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10D19-558C-476F-8A56-883ED2B5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AA933-EB99-4CB0-A4B7-BEB54FFD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3267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Stocks, F&amp;O, currencies and commodities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A4B95-C7E3-4D43-A133-B18F4837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05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B99C2-3AAF-4EDD-BB3A-E35DB601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90850"/>
            <a:ext cx="3267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Mutual funds, IPOs and bonds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1C80C-8151-4907-93D1-2941570E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18E0B-49E1-4C16-B635-D8AA69B4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81400"/>
            <a:ext cx="3267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Loans and fixed deposits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19902-3CC9-4055-B700-B4EAC64C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C0CC"/>
                </a:solidFill>
              </a:defRPr>
            </a:pPr>
            <a:r>
              <a:rPr sz="1275" b="1">
                <a:solidFill>
                  <a:srgbClr val="B8C0CC"/>
                </a:solidFill>
              </a:rPr>
              <a:t>Built around the S.T.A.R.S principles</a:t>
            </a:r>
          </a:p>
        </p:txBody>
      </p:sp>
    </p:spTree>
    <p:extLst>
      <p:ext uri="{BB962C8B-B14F-4D97-AF65-F5344CB8AC3E}">
        <p14:creationId xmlns:p14="http://schemas.microsoft.com/office/powerpoint/2010/main" val="15456064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D56BE-488E-44BC-9FE6-3B2A5F91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1A"/>
                </a:solidFill>
              </a:defRPr>
            </a:pPr>
            <a:r>
              <a:rPr sz="900" b="1">
                <a:solidFill>
                  <a:srgbClr val="FF7A1A"/>
                </a:solidFill>
              </a:rPr>
              <a:t>USER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74F63-2B49-4AB3-90A3-A677DAD2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UI makes financial actions visible and scannable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25E3F-AFDF-4A1F-A635-3703B394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D405D-5843-4B17-86C4-4BE54C8F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9BF5D-E082-4672-8901-01CA0CC7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ANGEL ONE · UI/UX DESIGN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40572-58FE-42DD-B722-6F475055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BB153-2171-4055-9AEF-B6EB6D6D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7FA"/>
                </a:solidFill>
              </a:defRPr>
            </a:pPr>
            <a:r>
              <a:rPr sz="1875" b="0">
                <a:solidFill>
                  <a:srgbClr val="F5F7FA"/>
                </a:solidFill>
              </a:rPr>
              <a:t>UI is everything the user sees and interacts with.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E640D-04A4-4EA4-A80D-984E32EC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A1A"/>
                </a:solidFill>
              </a:defRPr>
            </a:pPr>
            <a:r>
              <a:rPr sz="1500" b="1">
                <a:solidFill>
                  <a:srgbClr val="FF7A1A"/>
                </a:solidFill>
              </a:rPr>
              <a:t>Color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A464A-B989-4AE8-A6EE-4122E477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Orange brand; green/red market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E1DBE-4280-497C-9D7F-934704FD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754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79E39-8578-41BA-8468-D6EA8543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A1A"/>
                </a:solidFill>
              </a:defRPr>
            </a:pPr>
            <a:r>
              <a:rPr sz="1500" b="1">
                <a:solidFill>
                  <a:srgbClr val="FF7A1A"/>
                </a:solidFill>
              </a:rPr>
              <a:t>Typography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C52B6-73F2-44B0-AF98-B1061430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Numeric-friendly financial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C5568-F0AB-40F4-979F-F8BB9D11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754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87C88-2D7C-4FBF-88FF-22FF6633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A1A"/>
                </a:solidFill>
              </a:defRPr>
            </a:pPr>
            <a:r>
              <a:rPr sz="1500" b="1">
                <a:solidFill>
                  <a:srgbClr val="FF7A1A"/>
                </a:solidFill>
              </a:rPr>
              <a:t>Navigation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966A0-955C-4DA5-A7EC-89ADF0DE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Bottom tabs for key destinations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B35A9-110E-4524-8F5D-EA9C84B4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754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33505-57C3-4935-87A0-1560BA5C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A1A"/>
                </a:solidFill>
              </a:defRPr>
            </a:pPr>
            <a:r>
              <a:rPr sz="1500" b="1">
                <a:solidFill>
                  <a:srgbClr val="FF7A1A"/>
                </a:solidFill>
              </a:rPr>
              <a:t>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766DF-5E06-4342-8768-25F4BB80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Search, Buy and Sell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FB83E6-C517-4CE5-AD14-2B0B79D4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754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C4C12B-338D-47A6-95C7-9DAE13CD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A1A"/>
                </a:solidFill>
              </a:defRPr>
            </a:pPr>
            <a:r>
              <a:rPr sz="1500" b="1">
                <a:solidFill>
                  <a:srgbClr val="FF7A1A"/>
                </a:solidFill>
              </a:rPr>
              <a:t>Content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475DD-09EB-4F18-9F07-108B576B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Price cards, charts, logos, IPO banners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57CA9-436B-4099-8A4E-F6F25C40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754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5DBC7A-4AA3-4782-AF55-4598B68F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95450"/>
            <a:ext cx="2647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CED2F-ECA3-46B2-9DD5-07807B2A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209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7FA"/>
                </a:solidFill>
              </a:defRPr>
            </a:pPr>
            <a:r>
              <a:rPr sz="2325" b="1">
                <a:solidFill>
                  <a:srgbClr val="F5F7FA"/>
                </a:solidFill>
              </a:rPr>
              <a:t>Visual cues</a:t>
            </a:r>
          </a:p>
          <a:p xmlns:a="http://schemas.openxmlformats.org/drawingml/2006/main">
            <a:pPr algn="l">
              <a:defRPr sz="2325" b="1">
                <a:solidFill>
                  <a:srgbClr val="F5F7FA"/>
                </a:solidFill>
              </a:defRPr>
            </a:pPr>
            <a:r>
              <a:rPr sz="2325" b="1">
                <a:solidFill>
                  <a:srgbClr val="F5F7FA"/>
                </a:solidFill>
              </a:rPr>
              <a:t>reduce scanning</a:t>
            </a:r>
          </a:p>
          <a:p xmlns:a="http://schemas.openxmlformats.org/drawingml/2006/main">
            <a:pPr algn="l">
              <a:defRPr sz="2325" b="1">
                <a:solidFill>
                  <a:srgbClr val="F5F7FA"/>
                </a:solidFill>
              </a:defRPr>
            </a:pPr>
            <a:r>
              <a:rPr sz="2325" b="1">
                <a:solidFill>
                  <a:srgbClr val="F5F7FA"/>
                </a:solidFill>
              </a:rPr>
              <a:t>time.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C51CC4-F0F9-49F9-8827-72AD16B2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52825"/>
            <a:ext cx="2038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0CC"/>
                </a:solidFill>
              </a:defRPr>
            </a:pPr>
            <a:r>
              <a:rPr sz="1425" b="0">
                <a:solidFill>
                  <a:srgbClr val="B8C0CC"/>
                </a:solidFill>
              </a:rPr>
              <a:t>Orange anchors the brand; green/red communicate movement and action at a glance.</a:t>
            </a:r>
          </a:p>
        </p:txBody>
      </p:sp>
    </p:spTree>
    <p:extLst>
      <p:ext uri="{BB962C8B-B14F-4D97-AF65-F5344CB8AC3E}">
        <p14:creationId xmlns:p14="http://schemas.microsoft.com/office/powerpoint/2010/main" val="1336781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530734-1161-4BF7-B87A-1F084D06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1A"/>
                </a:solidFill>
              </a:defRPr>
            </a:pPr>
            <a:r>
              <a:rPr sz="900" b="1">
                <a:solidFill>
                  <a:srgbClr val="FF7A1A"/>
                </a:solidFill>
              </a:rPr>
              <a:t>USER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5B11D-153F-4919-9D70-08477508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UX is the ease and confidence of completing a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140C7-0EC1-4B68-AF87-D2594C4F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6AF0F-A020-4E5A-AD07-675D09AE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8B1B6-6430-40EE-AE6D-FC417667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ANGEL ONE · UI/UX DESIGN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A8A9B-2EA4-4C3F-8145-1CC3837B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7CAB5-9357-4DB3-AF24-342EDB29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</a:defRPr>
            </a:pPr>
            <a:r>
              <a:rPr sz="1950" b="1">
                <a:solidFill>
                  <a:srgbClr val="F5F7FA"/>
                </a:solidFill>
              </a:rPr>
              <a:t>Example task: buy shares of a company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23C75-C82B-4FF1-BEE3-C8C9EC20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123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1EDCC-87CD-4C57-ABF7-F442C4A8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C0CC"/>
                </a:solidFill>
              </a:defRPr>
            </a:pPr>
            <a:r>
              <a:rPr sz="1050" b="1">
                <a:solidFill>
                  <a:srgbClr val="B8C0CC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F0E9D-3CC1-4F79-A6EF-67EBD474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</a:defRPr>
            </a:pPr>
            <a:r>
              <a:rPr sz="1275" b="1">
                <a:solidFill>
                  <a:srgbClr val="F5F7FA"/>
                </a:solidFill>
              </a:rPr>
              <a:t>Open Angel 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390E7-39C2-440C-B062-89E6210B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194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36AD6-C953-402C-9A81-2F2FBDA6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571750"/>
            <a:ext cx="123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BDA7B-C096-44B9-B9CC-DBB051C5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8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C0CC"/>
                </a:solidFill>
              </a:defRPr>
            </a:pPr>
            <a:r>
              <a:rPr sz="1050" b="1">
                <a:solidFill>
                  <a:srgbClr val="B8C0CC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B8DBC-136C-4631-B642-7531A581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99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</a:defRPr>
            </a:pPr>
            <a:r>
              <a:rPr sz="1275" b="1">
                <a:solidFill>
                  <a:srgbClr val="F5F7FA"/>
                </a:solidFill>
              </a:rPr>
              <a:t>Search for the stock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5B6BD-B908-4DD0-A78E-126A03CA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194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51DA6-51B1-4442-8F5F-AA36A82F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123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8C59A-8FC4-4A35-8BB2-0BF5FA14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8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C0CC"/>
                </a:solidFill>
              </a:defRPr>
            </a:pPr>
            <a:r>
              <a:rPr sz="1050" b="1">
                <a:solidFill>
                  <a:srgbClr val="B8C0CC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205AD6-676A-4B95-A869-09F8227B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</a:defRPr>
            </a:pPr>
            <a:r>
              <a:rPr sz="1275" b="1">
                <a:solidFill>
                  <a:srgbClr val="F5F7FA"/>
                </a:solidFill>
              </a:rPr>
              <a:t>View live price &amp; chart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A0B978-544D-4061-A52B-69896EF4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194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2557AA-B748-42C6-83BF-31AEF742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23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2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84FA4-2990-404E-811F-11716405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8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1A"/>
                </a:solidFill>
              </a:defRPr>
            </a:pPr>
            <a:r>
              <a:rPr sz="1050" b="1">
                <a:solidFill>
                  <a:srgbClr val="FF7A1A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ACA998-769D-4EC6-9849-96C48387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99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</a:defRPr>
            </a:pPr>
            <a:r>
              <a:rPr sz="1275" b="1">
                <a:solidFill>
                  <a:srgbClr val="F5F7FA"/>
                </a:solidFill>
              </a:rPr>
              <a:t>Tap Buy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12799B-9906-455C-8AE1-6E9DE7D9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194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431B4E-B405-47A7-B180-52EEC985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123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C3E25-2124-498F-88A7-0E25E28B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8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C0CC"/>
                </a:solidFill>
              </a:defRPr>
            </a:pPr>
            <a:r>
              <a:rPr sz="1050" b="1">
                <a:solidFill>
                  <a:srgbClr val="B8C0CC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94D1C7-2778-4C41-8C69-C8BDA8F0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99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</a:defRPr>
            </a:pPr>
            <a:r>
              <a:rPr sz="1275" b="1">
                <a:solidFill>
                  <a:srgbClr val="F5F7FA"/>
                </a:solidFill>
              </a:rPr>
              <a:t>Enter quantity &amp; price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119C9F-B29D-47F0-98BC-5E2FC93E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194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90C6C1-0B45-4BED-B3AC-279516A5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123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551C41-730F-4EF9-8DE4-25B55545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C0CC"/>
                </a:solidFill>
              </a:defRPr>
            </a:pPr>
            <a:r>
              <a:rPr sz="1050" b="1">
                <a:solidFill>
                  <a:srgbClr val="B8C0CC"/>
                </a:solidFill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4D3C6A-3AA6-4B37-BD63-E8600394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</a:defRPr>
            </a:pPr>
            <a:r>
              <a:rPr sz="1275" b="1">
                <a:solidFill>
                  <a:srgbClr val="F5F7FA"/>
                </a:solidFill>
              </a:rPr>
              <a:t>Confirm order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30B30C-A53B-46D8-A552-00CE717A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194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E16558-A381-48FA-BEB1-7C482B3C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71750"/>
            <a:ext cx="123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33B5FA-727E-438E-8536-0836CE52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8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C0CC"/>
                </a:solidFill>
              </a:defRPr>
            </a:pPr>
            <a:r>
              <a:rPr sz="1050" b="1">
                <a:solidFill>
                  <a:srgbClr val="B8C0CC"/>
                </a:solidFill>
              </a:rPr>
              <a:t>07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2093CF-9268-4579-B53F-B2E39FBF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099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</a:defRPr>
            </a:pPr>
            <a:r>
              <a:rPr sz="1275" b="1">
                <a:solidFill>
                  <a:srgbClr val="F5F7FA"/>
                </a:solidFill>
              </a:rPr>
              <a:t>See order status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E35984-EA52-4B49-890B-5F666263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7FA"/>
                </a:solidFill>
              </a:defRPr>
            </a:pPr>
            <a:r>
              <a:rPr sz="1875" b="0">
                <a:solidFill>
                  <a:srgbClr val="F5F7FA"/>
                </a:solidFill>
              </a:rPr>
              <a:t>Good UX means this journey works without complicated instructions.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C74397-2615-4757-BDA9-527902DD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CA3206-1184-472C-B507-7A02038B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Outcome: a simple, useful, comfortable and satisfying experience</a:t>
            </a:r>
          </a:p>
        </p:txBody>
      </p:sp>
    </p:spTree>
    <p:extLst>
      <p:ext uri="{BB962C8B-B14F-4D97-AF65-F5344CB8AC3E}">
        <p14:creationId xmlns:p14="http://schemas.microsoft.com/office/powerpoint/2010/main" val="19011276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524EC-38D0-48E5-9E5B-C63AE760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1A"/>
                </a:solidFill>
              </a:defRPr>
            </a:pPr>
            <a:r>
              <a:rPr sz="900" b="1">
                <a:solidFill>
                  <a:srgbClr val="FF7A1A"/>
                </a:solidFill>
              </a:rPr>
              <a:t>UX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795EE-538C-4705-9C52-A2499526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Angel One’s UX reduces friction at key moments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1EEE3-2406-4E71-96DB-0247A88F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9F4E2-D0D5-4F96-BF8E-CBB787B5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7E6BE-3071-4AFC-B987-D88D1D19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ANGEL ONE · UI/UX DESIGN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21AE6-863A-44A0-B973-E7B14E69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C5795-2B7D-4648-B7E1-985F359E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24003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4678C-0AEB-43F2-83D0-56A91FBC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A1A"/>
                </a:solidFill>
              </a:defRPr>
            </a:pPr>
            <a:r>
              <a:rPr sz="1275" b="1">
                <a:solidFill>
                  <a:srgbClr val="FF7A1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B101D-647A-4CC2-A639-60413081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</a:defRPr>
            </a:pPr>
            <a:r>
              <a:rPr sz="1950" b="1">
                <a:solidFill>
                  <a:srgbClr val="F5F7FA"/>
                </a:solidFill>
              </a:rPr>
              <a:t>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72AF7-E362-4A79-8217-69D7A659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1952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Paperless digital KYC using PAN, Aadhaar and phone number.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B9B28-3245-447E-BF3F-5C694069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66900"/>
            <a:ext cx="24003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B3B80-E896-4AD2-B4D4-7E7F03FA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764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A1A"/>
                </a:solidFill>
              </a:defRPr>
            </a:pPr>
            <a:r>
              <a:rPr sz="1275" b="1">
                <a:solidFill>
                  <a:srgbClr val="FF7A1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35844-6226-48BF-9C62-72078BF5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</a:defRPr>
            </a:pPr>
            <a:r>
              <a:rPr sz="1950" b="1">
                <a:solidFill>
                  <a:srgbClr val="F5F7FA"/>
                </a:solidFill>
              </a:rPr>
              <a:t>Navigate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73CCA-82FA-46E0-B4F7-4E1897A4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67050"/>
            <a:ext cx="1952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Watchlist, Orders, Portfolio and Explore in bottom navigation.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C1569-33ED-4FB5-88D3-8448345A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66900"/>
            <a:ext cx="24003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DF84D-9F27-4749-934F-3484DFD6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A1A"/>
                </a:solidFill>
              </a:defRPr>
            </a:pPr>
            <a:r>
              <a:rPr sz="1275" b="1">
                <a:solidFill>
                  <a:srgbClr val="FF7A1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F7E0F-DFC4-47B8-8801-959DC64C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</a:defRPr>
            </a:pPr>
            <a:r>
              <a:rPr sz="1950" b="1">
                <a:solidFill>
                  <a:srgbClr val="F5F7FA"/>
                </a:solidFill>
              </a:rPr>
              <a:t>Decide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FBF83-E9BC-4DA7-9342-D2C47838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7050"/>
            <a:ext cx="1952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Live charts, research, news, calculators and performance graphs.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3B45C-AEBB-4E5B-9B1B-A4580325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66900"/>
            <a:ext cx="24003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C7220-B2B9-488E-A6FD-8D3978CF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764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A1A"/>
                </a:solidFill>
              </a:defRPr>
            </a:pPr>
            <a:r>
              <a:rPr sz="1275" b="1">
                <a:solidFill>
                  <a:srgbClr val="FF7A1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E8EC8-53B3-4099-87A9-FAFE609D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146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</a:defRPr>
            </a:pPr>
            <a:r>
              <a:rPr sz="1950" b="1">
                <a:solidFill>
                  <a:srgbClr val="F5F7FA"/>
                </a:solidFill>
              </a:rPr>
              <a:t>Trust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93A310-284E-4871-BB60-6FFFE86C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67050"/>
            <a:ext cx="1952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SEBI regulation, encrypted transactions, biometrics/2FA and secure UPI mandates.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3A1E20-5434-4AE4-B2D1-8E226C01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Feedback loop: order status, price ticks, alerts, confirmations and IPO updates make each action legible.</a:t>
            </a:r>
          </a:p>
        </p:txBody>
      </p:sp>
    </p:spTree>
    <p:extLst>
      <p:ext uri="{BB962C8B-B14F-4D97-AF65-F5344CB8AC3E}">
        <p14:creationId xmlns:p14="http://schemas.microsoft.com/office/powerpoint/2010/main" val="20157528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35B85C-D706-4BAD-9118-FEEC0F09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1A"/>
                </a:solidFill>
              </a:defRPr>
            </a:pPr>
            <a:r>
              <a:rPr sz="900" b="1">
                <a:solidFill>
                  <a:srgbClr val="FF7A1A"/>
                </a:solidFill>
              </a:rPr>
              <a:t>UI VS 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8EF0A-3E0B-4A24-B9B8-8FEDEE47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UI elements create UX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76BFC-A3E8-46AC-8E73-5D2EE05A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F4D68-7114-497F-8483-0319B797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601EA-6EDC-40BF-97E3-CB8683DC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ANGEL ONE · UI/UX DESIGN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ABBF0-6666-4D2B-BC57-0D30E116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D93AF-C105-48E3-8EF2-48C8FD36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7A1A"/>
                </a:solidFill>
              </a:defRPr>
            </a:pPr>
            <a:r>
              <a:rPr sz="1575" b="1">
                <a:solidFill>
                  <a:srgbClr val="FF7A1A"/>
                </a:solidFill>
              </a:rPr>
              <a:t>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E2669-8F00-4AAF-A1A8-4C6969F1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764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7A1A"/>
                </a:solidFill>
              </a:defRPr>
            </a:pPr>
            <a:r>
              <a:rPr sz="1575" b="1">
                <a:solidFill>
                  <a:srgbClr val="FF7A1A"/>
                </a:solidFill>
              </a:rPr>
              <a:t>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A4E35-F811-4A52-A599-C80777BA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392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7C68B-8D53-422E-AA6D-EA7ACE6E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7645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DD606-8180-4534-8FA5-5B5EE3A2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Orange brand color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81AD9-D109-4BCD-B690-CB86886E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621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Recognisable, trustworthy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38CDE-F2BE-4054-B9B6-4651E0E8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81275"/>
            <a:ext cx="392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9AC5D-487F-4442-B14D-030A9F3D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81275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3DE94-37A5-4F1C-B50B-CD8C08B5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Green Buy / Red Sell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79771-FD07-4F9E-9510-2C698A1A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67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Quick, clear trading decisions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ABF4E-3576-44F7-9C06-82BBDE02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392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88E76-48F9-43D5-91E3-343E622A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861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244DB-D00A-48B9-9CCB-B1AE545F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Watchlist star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B5BC9-2172-4FD1-A929-270E52E8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718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Easy tracking of favourite stocks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E6519-D3F1-4375-9859-26C24711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392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B10BD-4BDD-4235-A8AB-A29E8636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90925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CEE0B-5180-49FD-A88C-79383DAB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Order status icons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D9647-FC37-4957-9388-A1B7AA74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76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Confidence about trade execution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119093-466D-43A5-8E2D-E48D2D2B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392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211FF2-6D1D-44D5-ACA5-161986F1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9575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8C7DE3-4693-4350-AF9F-6B4AAD62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Bottom navigation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A515F0-2E90-4486-A75F-76C5DB80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814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Fast access to core features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4170C7-41BF-40AD-8C06-4A85AFAF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00575"/>
            <a:ext cx="392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2D156C-C42F-4ACC-934B-761EF89E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00575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5EC381-C7D7-48DB-93F0-EFC9C63B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Price change colors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881F79-CA7D-482B-B90B-D5516287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863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Instant feedback on market movement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7354E0-CBD2-496A-BED6-12CAAA86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392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1DE2AB-3EBD-4C3C-A225-0098CDC0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54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444E7D-7EDC-4F99-BAE7-889B8312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KYC &amp; biometric login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98EF79-5841-4E8D-A8FD-38AF75D2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911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</a:defRPr>
            </a:pPr>
            <a:r>
              <a:rPr sz="1350" b="0">
                <a:solidFill>
                  <a:srgbClr val="F5F7FA"/>
                </a:solidFill>
              </a:rPr>
              <a:t>Control, security and confidence</a:t>
            </a:r>
          </a:p>
        </p:txBody>
      </p:sp>
    </p:spTree>
    <p:extLst>
      <p:ext uri="{BB962C8B-B14F-4D97-AF65-F5344CB8AC3E}">
        <p14:creationId xmlns:p14="http://schemas.microsoft.com/office/powerpoint/2010/main" val="1295222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E1C2CB-30E3-4F90-B3C9-0D75C9B8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1A"/>
                </a:solidFill>
              </a:defRPr>
            </a:pPr>
            <a:r>
              <a:rPr sz="900" b="1">
                <a:solidFill>
                  <a:srgbClr val="FF7A1A"/>
                </a:solidFill>
              </a:rPr>
              <a:t>STRENGTHS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4AD8F-C542-4E63-9D15-DCE91A72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The design is strongest where speed, feedback and trust meet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C272B-9DF7-4254-BC94-9CFBEC61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3347C-A9FD-4DF0-802B-CC63B7E4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579EE-1C0C-4BC4-8B92-99D1B7E4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ANGEL ONE · UI/UX DESIGN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6DACF-9482-488E-AEA1-4AAECD06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EC4A1-9A74-4D59-9D36-FD29F270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Simple core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344C6-66C3-4949-8E92-231104AC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C"/>
                </a:solidFill>
              </a:defRPr>
            </a:pPr>
            <a:r>
              <a:rPr sz="1350" b="0">
                <a:solidFill>
                  <a:srgbClr val="B8C0CC"/>
                </a:solidFill>
              </a:rPr>
              <a:t>Minimal buy/sell flow remains approachable for beginners.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19814-AB4F-40DB-90EB-75AC988A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80277-0E9F-40B5-A62A-460A3B1A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621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Fast order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14580-39D3-4973-BA3B-783045F0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336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C"/>
                </a:solidFill>
              </a:defRPr>
            </a:pPr>
            <a:r>
              <a:rPr sz="1350" b="0">
                <a:solidFill>
                  <a:srgbClr val="B8C0CC"/>
                </a:solidFill>
              </a:rPr>
              <a:t>Quick placement with real-time status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FFA97-B199-4BF2-9A31-802B75AC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14625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B8794-327B-4365-B4EC-501B0CBB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Consistent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C7261-E8E7-4086-9948-7C21165D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C"/>
                </a:solidFill>
              </a:defRPr>
            </a:pPr>
            <a:r>
              <a:rPr sz="1350" b="0">
                <a:solidFill>
                  <a:srgbClr val="B8C0CC"/>
                </a:solidFill>
              </a:rPr>
              <a:t>Colors, icons and buttons behave predictably.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8B1A5-4255-4499-86A9-98248338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1DAB9-D219-4010-979C-EB4364ED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52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Strong feedback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E6A88-6F39-47E6-8B4D-12498051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2422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C"/>
                </a:solidFill>
              </a:defRPr>
            </a:pPr>
            <a:r>
              <a:rPr sz="1350" b="0">
                <a:solidFill>
                  <a:srgbClr val="B8C0CC"/>
                </a:solidFill>
              </a:rPr>
              <a:t>Orders, alerts and price signals explain what is happening.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357FD-814B-41BA-9BD2-CA25217D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0525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6FE2E-8401-4C59-8186-82D4B73E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All-in-one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A98CB-3388-48D3-83D1-8D725B9C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C"/>
                </a:solidFill>
              </a:defRPr>
            </a:pPr>
            <a:r>
              <a:rPr sz="1350" b="0">
                <a:solidFill>
                  <a:srgbClr val="B8C0CC"/>
                </a:solidFill>
              </a:rPr>
              <a:t>Investment products are available in one place.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7D8F3-582D-41FB-B6D9-0D7A03F8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EF0C25-D6AF-4A64-9326-624D33C2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433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Trust &amp; security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5BBF37-E5CD-4C4C-8601-622E3FFB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148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C"/>
                </a:solidFill>
              </a:defRPr>
            </a:pPr>
            <a:r>
              <a:rPr sz="1350" b="0">
                <a:solidFill>
                  <a:srgbClr val="B8C0CC"/>
                </a:solidFill>
              </a:rPr>
              <a:t>Regulation, encryption and biometrics build confidence.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AE1978-4893-4CB6-AC6E-8C8C46C9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95875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12688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4CF38-1CBC-40C6-997F-0AB2BB63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1A"/>
                </a:solidFill>
              </a:defRPr>
            </a:pPr>
            <a:r>
              <a:rPr sz="900" b="1">
                <a:solidFill>
                  <a:srgbClr val="FF7A1A"/>
                </a:solidFill>
              </a:rPr>
              <a:t>WEAKNESSES / AREAS FOR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1C2E3-DD04-4A38-8D68-C18B1E4D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Complexity is the main usability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BEF59-92D5-43CD-9684-36A928B4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27AB0-9D68-426F-B12F-1166825C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E9E99-4E1E-48ED-9F27-E5991B33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ANGEL ONE · UI/UX DESIGN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49DD2-F976-492E-86E7-B744B589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B2EF7-0BE0-4AF8-B329-40139CA7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283C3-080A-4F5C-A9C8-7466500F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5E55E-FB55-4A40-B804-AE53EC57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62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Too many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7EA74-2F31-4061-A07B-FF175C80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24075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0CC"/>
                </a:solidFill>
              </a:defRPr>
            </a:pPr>
            <a:r>
              <a:rPr sz="1425" b="0">
                <a:solidFill>
                  <a:srgbClr val="B8C0CC"/>
                </a:solidFill>
              </a:rPr>
              <a:t>The Super App can feel complex to new investors.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61C10-09F3-48C3-A9EE-BEDB1691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2C3A5-0C7B-4996-8441-31647AC6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98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F7CD6-8517-4BD1-B0CD-85A7A090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146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Feature discoverability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67344-A0B6-46D3-ACC1-F9444C64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0CC"/>
                </a:solidFill>
              </a:defRPr>
            </a:pPr>
            <a:r>
              <a:rPr sz="1425" b="0">
                <a:solidFill>
                  <a:srgbClr val="B8C0CC"/>
                </a:solidFill>
              </a:rPr>
              <a:t>Options chains, technical charts and Smart Orders are not obvious to beginners.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7E4A7-B814-4343-A872-EE5AF31C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96F43-31B1-421D-8C0D-43D04CE7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5AE75-7AD6-4BC4-A31A-ECBD8119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67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Trading jargon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073CA-E844-4252-BAEC-725ADBBB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29075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0CC"/>
                </a:solidFill>
              </a:defRPr>
            </a:pPr>
            <a:r>
              <a:rPr sz="1425" b="0">
                <a:solidFill>
                  <a:srgbClr val="B8C0CC"/>
                </a:solidFill>
              </a:rPr>
              <a:t>Margin, GTT, ADTO and F&amp;O need simpler explanations.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7EBE3-171F-403D-B72C-FD0DEE6F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A1C0F8-699C-41D1-9C2C-6A44FAAB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148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A0465-E38E-4453-8909-A3AA75EB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96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Data-heavy screens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40AF33-18CD-41FD-8E4A-EE388DBC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81575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0CC"/>
                </a:solidFill>
              </a:defRPr>
            </a:pPr>
            <a:r>
              <a:rPr sz="1425" b="0">
                <a:solidFill>
                  <a:srgbClr val="B8C0CC"/>
                </a:solidFill>
              </a:rPr>
              <a:t>Numbers, indicators and charts can feel cluttered—especially in F&amp;O and options.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5CF64-616C-4515-A992-37797552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969"/>
                </a:solidFill>
              </a:defRPr>
            </a:pPr>
            <a:r>
              <a:rPr sz="1950" b="1">
                <a:solidFill>
                  <a:srgbClr val="FF6969"/>
                </a:solidFill>
              </a:rPr>
              <a:t>Design tension: comprehensive capability vs. beginner clarity</a:t>
            </a:r>
          </a:p>
        </p:txBody>
      </p:sp>
    </p:spTree>
    <p:extLst>
      <p:ext uri="{BB962C8B-B14F-4D97-AF65-F5344CB8AC3E}">
        <p14:creationId xmlns:p14="http://schemas.microsoft.com/office/powerpoint/2010/main" val="942786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14B09-0A28-4293-9FFB-A92FA43A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1A"/>
                </a:solidFill>
              </a:defRPr>
            </a:pPr>
            <a:r>
              <a:rPr sz="900" b="1">
                <a:solidFill>
                  <a:srgbClr val="FF7A1A"/>
                </a:solidFill>
              </a:rPr>
              <a:t>SUGGESTED IMPROVEMENTS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E7CB1-D833-4FB2-A2F8-95B69D25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Five changes can make advanced investing feel more approachable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BCA1C-810E-4556-AFFA-50DD21B5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BCE94-2A77-4B05-A711-BFFD97FB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9275E-A325-40F5-8E78-D0724E59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ANGEL ONE · UI/UX DESIGN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F9B1A-88C2-42AB-B978-C405D3A1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D7245-2683-4F1B-A9F9-E791AD8C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1A"/>
                </a:solidFill>
              </a:defRPr>
            </a:pPr>
            <a:r>
              <a:rPr sz="1200" b="1">
                <a:solidFill>
                  <a:srgbClr val="FF7A1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90347-793C-4F27-9194-54B3D88C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Beginner / Pro modes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DB780-CB59-4919-BCC7-301258F6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309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C"/>
                </a:solidFill>
              </a:defRPr>
            </a:pPr>
            <a:r>
              <a:rPr sz="1350" b="0">
                <a:solidFill>
                  <a:srgbClr val="B8C0CC"/>
                </a:solidFill>
              </a:rPr>
              <a:t>Keep core investing simple while preserving advanced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6FF32-0730-4525-BC7C-6B9B268E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09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1A"/>
                </a:solidFill>
              </a:defRPr>
            </a:pPr>
            <a:r>
              <a:rPr sz="1200" b="1">
                <a:solidFill>
                  <a:srgbClr val="FF7A1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37919-C3E6-4861-BDFC-8FED4388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43125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Search &amp; filters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83970-E884-4361-8E05-DEA4A354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71750"/>
            <a:ext cx="309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C"/>
                </a:solidFill>
              </a:defRPr>
            </a:pPr>
            <a:r>
              <a:rPr sz="1350" b="0">
                <a:solidFill>
                  <a:srgbClr val="B8C0CC"/>
                </a:solidFill>
              </a:rPr>
              <a:t>Make filters visible for stocks, funds, IPOs, bonds and F&amp;O.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D47C4-2E3B-4F02-BB10-16AFB0D6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09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1A"/>
                </a:solidFill>
              </a:defRPr>
            </a:pPr>
            <a:r>
              <a:rPr sz="1200" b="1">
                <a:solidFill>
                  <a:srgbClr val="FF7A1A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07585-41A4-48E8-9411-B162FF64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43125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Beginner guidance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1E277-4968-4CAB-92F9-940322CC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309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C"/>
                </a:solidFill>
              </a:defRPr>
            </a:pPr>
            <a:r>
              <a:rPr sz="1350" b="0">
                <a:solidFill>
                  <a:srgbClr val="B8C0CC"/>
                </a:solidFill>
              </a:rPr>
              <a:t>Add short tooltips or interactive first-use tutorials.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B1F0E-4D54-483D-8A81-12F72B81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1A"/>
                </a:solidFill>
              </a:defRPr>
            </a:pPr>
            <a:r>
              <a:rPr sz="1200" b="1">
                <a:solidFill>
                  <a:srgbClr val="FF7A1A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AD4FD-4598-4700-895B-850B3F6A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52875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Plain language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4A157-9CD0-4DE7-A7DB-A6E41843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309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C"/>
                </a:solidFill>
              </a:defRPr>
            </a:pPr>
            <a:r>
              <a:rPr sz="1350" b="0">
                <a:solidFill>
                  <a:srgbClr val="B8C0CC"/>
                </a:solidFill>
              </a:rPr>
              <a:t>Explain trading terms inline, where they appear.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44CE9-1C5F-42F6-A2BE-47D1EE82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19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1A"/>
                </a:solidFill>
              </a:defRPr>
            </a:pPr>
            <a:r>
              <a:rPr sz="1200" b="1">
                <a:solidFill>
                  <a:srgbClr val="FF7A1A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27FE7-1935-4E87-A792-9A467334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52875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Personalization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2CC2B-A136-4EF8-AE8A-C45EC2F6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309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C"/>
                </a:solidFill>
              </a:defRPr>
            </a:pPr>
            <a:r>
              <a:rPr sz="1350" b="0">
                <a:solidFill>
                  <a:srgbClr val="B8C0CC"/>
                </a:solidFill>
              </a:rPr>
              <a:t>Let users tailor widgets, watchlists and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2721665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08FC9F-0B4C-4A3C-9005-6275223B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1A"/>
                </a:solidFill>
              </a:defRPr>
            </a:pPr>
            <a:r>
              <a:rPr sz="900" b="1">
                <a:solidFill>
                  <a:srgbClr val="FF7A1A"/>
                </a:solidFill>
              </a:rPr>
              <a:t>USER JOURNEY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F7F1F-A9D8-4B21-BF18-C9C8AB4C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IPO application journey: clear, trackable and beginner-friendly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FFA6D-335B-40D1-A85A-FE0B39BA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6E055-DB97-461C-94F6-ED0FA1EE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D9E99-87B1-4F4C-8E9A-F39327FB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ANGEL ONE · UI/UX DESIGN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5E9B3-D32D-48CB-A2E6-7921C044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207A0-0CB2-462E-9CD6-A8EF0722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Goal: Apply for an IPO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15A11-28CF-474F-A151-E3D1A641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CE81D-5F30-41FB-A434-3C254FA5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1A"/>
                </a:solidFill>
              </a:defRPr>
            </a:pPr>
            <a:r>
              <a:rPr sz="1050" b="1">
                <a:solidFill>
                  <a:srgbClr val="FF7A1A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20BB7-1B14-47E8-94ED-D693C843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</a:defRPr>
            </a:pPr>
            <a:r>
              <a:rPr sz="1200" b="1">
                <a:solidFill>
                  <a:srgbClr val="F5F7FA"/>
                </a:solidFill>
              </a:rPr>
              <a:t>Open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B44C7-A293-4654-A996-CE134DAA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2AC91-FE33-4535-9B3A-679DA4A3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4795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F491D-51C6-4D6D-AD50-124C912A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62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1A"/>
                </a:solidFill>
              </a:defRPr>
            </a:pPr>
            <a:r>
              <a:rPr sz="1050" b="1">
                <a:solidFill>
                  <a:srgbClr val="FF7A1A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DA4EB-3E4C-4566-AD37-3697ED39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908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</a:defRPr>
            </a:pPr>
            <a:r>
              <a:rPr sz="1200" b="1">
                <a:solidFill>
                  <a:srgbClr val="F5F7FA"/>
                </a:solidFill>
              </a:rPr>
              <a:t>IPO section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C4810-23ED-4169-9382-37AEE935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0D15E-332F-4260-8DAB-E4A5ED07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8654D-32E6-4904-962F-DB04AAD5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62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1A"/>
                </a:solidFill>
              </a:defRPr>
            </a:pPr>
            <a:r>
              <a:rPr sz="1050" b="1">
                <a:solidFill>
                  <a:srgbClr val="FF7A1A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02007-A8D3-469A-88D7-C5C64A80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908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</a:defRPr>
            </a:pPr>
            <a:r>
              <a:rPr sz="1200" b="1">
                <a:solidFill>
                  <a:srgbClr val="F5F7FA"/>
                </a:solidFill>
              </a:rPr>
              <a:t>Select IPO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E0334-DA96-4B9F-9E03-99F99AC0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9B78A-095F-4602-BC4E-B9740202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570F0-1205-4578-B4C1-1C63CC70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1A"/>
                </a:solidFill>
              </a:defRPr>
            </a:pPr>
            <a:r>
              <a:rPr sz="1050" b="1">
                <a:solidFill>
                  <a:srgbClr val="FF7A1A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083970-7AD9-45AA-ABD3-77A133CC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</a:defRPr>
            </a:pPr>
            <a:r>
              <a:rPr sz="1200" b="1">
                <a:solidFill>
                  <a:srgbClr val="F5F7FA"/>
                </a:solidFill>
              </a:rPr>
              <a:t>Enter lots &amp; price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B8A69F-CD3C-4992-B244-E0F48D95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8D3C8-B360-468A-A2AF-0585C39A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D4684-FB7F-43D2-BE6E-40A17CCD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1A"/>
                </a:solidFill>
              </a:defRPr>
            </a:pPr>
            <a:r>
              <a:rPr sz="1050" b="1">
                <a:solidFill>
                  <a:srgbClr val="FF7A1A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07BFE2-F7D2-40F6-9DF3-271D5FBD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908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</a:defRPr>
            </a:pPr>
            <a:r>
              <a:rPr sz="1200" b="1">
                <a:solidFill>
                  <a:srgbClr val="F5F7FA"/>
                </a:solidFill>
              </a:rPr>
              <a:t>Enter UPI 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7EF27C-224E-44CB-AEC6-FF49D1D6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B24FF8-503D-4A23-86AB-8F3B1D04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05903D-FFA6-4F4A-B9BD-ADF8753C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1A"/>
                </a:solidFill>
              </a:defRPr>
            </a:pPr>
            <a:r>
              <a:rPr sz="1050" b="1">
                <a:solidFill>
                  <a:srgbClr val="FF7A1A"/>
                </a:solidFill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0923D1-7487-45A0-ADDD-B4E6C87F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</a:defRPr>
            </a:pPr>
            <a:r>
              <a:rPr sz="1200" b="1">
                <a:solidFill>
                  <a:srgbClr val="F5F7FA"/>
                </a:solidFill>
              </a:rPr>
              <a:t>Approve mandate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30ACC8-7576-4AD3-9BD7-A9C90F39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87CF6E-266D-4FE5-BB22-92700F15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4795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2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986529-782A-4B4C-9FFE-D057F18E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62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1A"/>
                </a:solidFill>
              </a:defRPr>
            </a:pPr>
            <a:r>
              <a:rPr sz="1050" b="1">
                <a:solidFill>
                  <a:srgbClr val="FF7A1A"/>
                </a:solidFill>
              </a:rPr>
              <a:t>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3FE6C3-8A38-43B2-8485-5A01FF47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908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</a:defRPr>
            </a:pPr>
            <a:r>
              <a:rPr sz="1200" b="1">
                <a:solidFill>
                  <a:srgbClr val="F5F7FA"/>
                </a:solidFill>
              </a:rPr>
              <a:t>Track allotment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CEBF07-FD8E-41ED-8D73-BD764568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1866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95D277-6B1D-40D5-A84A-0F7DF598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C0CC"/>
                </a:solidFill>
              </a:defRPr>
            </a:pPr>
            <a:r>
              <a:rPr sz="1050" b="1">
                <a:solidFill>
                  <a:srgbClr val="B8C0CC"/>
                </a:solidFill>
              </a:rPr>
              <a:t>Major steps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78045E-3CDB-4C77-A2F3-607E5692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Low-to-Medium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E789BE-E817-4C32-95FE-1EAA9994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333875"/>
            <a:ext cx="1866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43071C-F0B6-4067-93B5-2B737519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C0CC"/>
                </a:solidFill>
              </a:defRPr>
            </a:pPr>
            <a:r>
              <a:rPr sz="1050" b="1">
                <a:solidFill>
                  <a:srgbClr val="B8C0CC"/>
                </a:solidFill>
              </a:rPr>
              <a:t>Difficulty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4C18F2-089C-4F15-AC38-06F8D3E3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196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Easy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314C74-9020-436F-BB8F-15ADC7C3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33875"/>
            <a:ext cx="1866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8C1B62-072E-46C9-9048-80F8D00F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958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C0CC"/>
                </a:solidFill>
              </a:defRPr>
            </a:pPr>
            <a:r>
              <a:rPr sz="1050" b="1">
                <a:solidFill>
                  <a:srgbClr val="B8C0CC"/>
                </a:solidFill>
              </a:rPr>
              <a:t>Feedback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E4D035-EEB7-42DA-BED5-0ED1416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196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Good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70B600-BD6E-430B-97DB-17C8E0C3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33875"/>
            <a:ext cx="1866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71F47A-AE4B-4E56-A931-05E6CC4D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4958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C0CC"/>
                </a:solidFill>
              </a:defRPr>
            </a:pPr>
            <a:r>
              <a:rPr sz="1050" b="1">
                <a:solidFill>
                  <a:srgbClr val="B8C0CC"/>
                </a:solidFill>
              </a:rPr>
              <a:t>Learning required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CAC7D0-CB48-4D60-81A1-CB657FE4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8196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Low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ED8291-D720-4615-9022-F30A7889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33875"/>
            <a:ext cx="1866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C62914-F002-4812-990D-B632F25A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958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C0CC"/>
                </a:solidFill>
              </a:defRPr>
            </a:pPr>
            <a:r>
              <a:rPr sz="1050" b="1">
                <a:solidFill>
                  <a:srgbClr val="B8C0CC"/>
                </a:solidFill>
              </a:rPr>
              <a:t>Overall experience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69316A-EDC7-4237-8FF9-74832C9B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196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Beginner-friendly</a:t>
            </a:r>
          </a:p>
        </p:txBody>
      </p:sp>
    </p:spTree>
    <p:extLst>
      <p:ext uri="{BB962C8B-B14F-4D97-AF65-F5344CB8AC3E}">
        <p14:creationId xmlns:p14="http://schemas.microsoft.com/office/powerpoint/2010/main" val="2382559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506754B-0318-48C4-BD90-13454942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1A"/>
                </a:solidFill>
              </a:defRPr>
            </a:pPr>
            <a:r>
              <a:rPr sz="900" b="1">
                <a:solidFill>
                  <a:srgbClr val="FF7A1A"/>
                </a:solidFill>
              </a:rPr>
              <a:t>EVALUATION RATINGS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4E8D4-9F45-46F9-ABC8-EB275DCE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The evaluation is strong overall, with two clear priorities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54C44-3D8C-46E2-915E-9A84AB9D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E9403-D211-4D7C-B6F2-9745FC9B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92FA6-4238-4D0C-948F-C8682DDD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ANGEL ONE · UI/UX DESIGN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DABDC-1734-4EEE-8B09-FB3B41A6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7692A-46C7-4B62-BF59-74B1A49A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Visual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44FF1-E0B6-485C-A574-CF0247B3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526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0DCE7-F8D3-4C1B-85C9-5B49BBD1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526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D7365-35F9-44B0-B340-B3535924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7526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E74D7-922F-4060-A949-57736844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526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B05B0-1A48-467A-8312-84097A33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526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55895-6541-4513-998E-94CB8DF2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14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C0CC"/>
                </a:solidFill>
              </a:defRPr>
            </a:pPr>
            <a:r>
              <a:rPr sz="1350" b="1">
                <a:solidFill>
                  <a:srgbClr val="B8C0CC"/>
                </a:solidFill>
              </a:rPr>
              <a:t>4/5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AA033-F317-4927-A718-C2DDF1D2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Ease of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39639-E93A-4956-BF54-104AB54D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098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FCECE-4679-4120-BCD3-C720F8A9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63E0D-F2D0-468B-9393-3C6BA334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6098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D2501-B6C6-476C-BFB6-2467BE4A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1AC141-F484-4C06-A9B3-EAAA3A53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098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8B84D-6B87-4838-A9D9-558FC5C0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7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C0CC"/>
                </a:solidFill>
              </a:defRPr>
            </a:pPr>
            <a:r>
              <a:rPr sz="1350" b="1">
                <a:solidFill>
                  <a:srgbClr val="B8C0CC"/>
                </a:solidFill>
              </a:rPr>
              <a:t>4/5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BC5DD7-1C54-4AB6-ADA1-78C0DB92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Navigation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B4205-0F24-4746-8F56-9AF041BC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671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3F991A-13DE-4169-AA2F-64612FE3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671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5686D9-FE65-4F92-9B8F-6370743D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4671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583790-E556-4F9D-B89A-6AFF2F21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459CE4-94F7-4E7D-9FD1-C7D0D537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671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D4D6A2-2C1F-4434-BD45-73D2DEA8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290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C0CC"/>
                </a:solidFill>
              </a:defRPr>
            </a:pPr>
            <a:r>
              <a:rPr sz="1350" b="1">
                <a:solidFill>
                  <a:srgbClr val="B8C0CC"/>
                </a:solidFill>
              </a:rPr>
              <a:t>4/5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D09D50-AA17-4D6C-9CBA-6F535328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Accessibility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A02E34-7A03-4E7E-912F-C58C717B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24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785664-EA90-421C-98D5-D54B87FD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24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4C66C4-6DD4-4684-AEA7-667DA0C0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324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03AB12-1055-4C26-9FF9-B78AFBE0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24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947C63-4D34-4BE3-9F4A-426F604F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24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A6115D-F4A9-4A03-A073-18E3B3EF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86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C0CC"/>
                </a:solidFill>
              </a:defRPr>
            </a:pPr>
            <a:r>
              <a:rPr sz="1350" b="1">
                <a:solidFill>
                  <a:srgbClr val="B8C0CC"/>
                </a:solidFill>
              </a:rPr>
              <a:t>3/5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F99218-9B54-4931-993A-9A302E41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Feedback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63469D-F23E-4C69-B630-CD394AD0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526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061D7D-914C-4046-AEC4-C3742C82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526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61E53D-6C6D-412A-B25B-3D4E18F9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7526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A497E9-B833-46D4-9E87-25E9108C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92FC96-8DFA-46BC-8937-C6956A5B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7526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F404AB-37B0-44AC-8F1C-DBC1280F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714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C0CC"/>
                </a:solidFill>
              </a:defRPr>
            </a:pPr>
            <a:r>
              <a:rPr sz="1350" b="1">
                <a:solidFill>
                  <a:srgbClr val="B8C0CC"/>
                </a:solidFill>
              </a:rPr>
              <a:t>5/5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1847BF-EDB6-4057-8EAD-B252213B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71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Privacy &amp; Security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7687ED-7077-4919-85D7-BDDECA4E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098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8E2DA6-195A-488F-831D-D642CF77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4F898F-A4B3-4C45-BDA1-C13F26B5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098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E1D9E8-98FF-43CE-B48A-91402BD4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098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0BC79A-9B9D-4700-AA14-C4913212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6098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BB151F-7065-44B7-83DF-C4B70B12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57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C0CC"/>
                </a:solidFill>
              </a:defRPr>
            </a:pPr>
            <a:r>
              <a:rPr sz="1350" b="1">
                <a:solidFill>
                  <a:srgbClr val="B8C0CC"/>
                </a:solidFill>
              </a:rPr>
              <a:t>5/5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DE760A-4492-4378-A6F7-8C9A1122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29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Feature Organization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392315-F211-4DB2-84BC-36729962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671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F15328-DC81-440E-8AC3-B5D8C7F9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671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90F8E7-74C3-4CA2-8688-C4DFAF14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671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E780E6-E6BD-4D69-B3B6-663F9B6F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671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0E53C8-D815-4825-B612-07D2A04B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4671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7CB22D-AC06-49DE-AD80-C20BADD6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4290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C0CC"/>
                </a:solidFill>
              </a:defRPr>
            </a:pPr>
            <a:r>
              <a:rPr sz="1350" b="1">
                <a:solidFill>
                  <a:srgbClr val="B8C0CC"/>
                </a:solidFill>
              </a:rPr>
              <a:t>3/5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8DABA4-B3DC-4FBA-BE5F-A860FCD1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86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Overall UX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2C8608-0AC5-43CB-8E55-28B788AE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24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71ACCD-93EF-4E1F-8D4E-41793232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24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E17054-37B9-469E-BAFD-E10CABC6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324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29E7F9-1EDE-4C0C-B029-FF627CBA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324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4125531-6903-4AF2-8DB7-806054A7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324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F1D096B-3466-46D7-A647-2F59010D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286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C0CC"/>
                </a:solidFill>
              </a:defRPr>
            </a:pPr>
            <a:r>
              <a:rPr sz="1350" b="1">
                <a:solidFill>
                  <a:srgbClr val="B8C0CC"/>
                </a:solidFill>
              </a:rPr>
              <a:t>4/5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C8CF1E-48D4-4945-AF0F-1B381DA1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Priorities for the next iteration: improve accessibility and feature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9962652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36BE2-7D1B-4E45-BB95-B5C62284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1A"/>
                </a:solidFill>
              </a:defRPr>
            </a:pPr>
            <a:r>
              <a:rPr sz="900" b="1">
                <a:solidFill>
                  <a:srgbClr val="FF7A1A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10147-BDF8-4797-8D3E-B501557F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7FA"/>
                </a:solidFill>
              </a:defRPr>
            </a:pPr>
            <a:r>
              <a:rPr sz="2625" b="1">
                <a:solidFill>
                  <a:srgbClr val="F5F7FA"/>
                </a:solidFill>
              </a:rPr>
              <a:t>A strong fintech experience—with a path to become simpler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5169B-452F-4151-B4E8-0D8DD87D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F66F6-31B7-4F10-BEAC-1D73DE69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96D9A-0E6E-475A-8FCF-C50626C2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ANGEL ONE · UI/UX DESIGN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AB1C0-B707-42D7-AF6C-BCC09C5B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0CC"/>
                </a:solidFill>
              </a:defRPr>
            </a:pPr>
            <a:r>
              <a:rPr sz="825" b="1">
                <a:solidFill>
                  <a:srgbClr val="B8C0CC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6A80F-B0C3-4FE2-9FB0-9B51FFB7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7FA"/>
                </a:solidFill>
              </a:defRPr>
            </a:pPr>
            <a:r>
              <a:rPr sz="2175" b="1">
                <a:solidFill>
                  <a:srgbClr val="F5F7FA"/>
                </a:solidFill>
              </a:rPr>
              <a:t>Angel One succeeds through clear buy/sell actions, recognisable identity, informative feedback and strong privacy/security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70B22-828E-4EC9-B4D1-79DE8DA7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19250"/>
            <a:ext cx="2800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9EC7F-D17C-46A1-8710-E9319AAE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57375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4/5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508F8-DBF7-4CD1-8775-7CA325C8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Overall rating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E821C-4CB2-465A-BB23-62A048B9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956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5F7FA"/>
                </a:solidFill>
              </a:defRPr>
            </a:pPr>
            <a:r>
              <a:rPr sz="2175" b="0">
                <a:solidFill>
                  <a:srgbClr val="F5F7FA"/>
                </a:solidFill>
              </a:rPr>
              <a:t>Good design should make investing simple and transparent, and require minimum effort from the user.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52485-C592-4DE2-8487-D8B7A1C4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BA45F-B29E-4127-8336-1578E796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1A"/>
                </a:solidFill>
              </a:defRPr>
            </a:pPr>
            <a:r>
              <a:rPr sz="1350" b="1">
                <a:solidFill>
                  <a:srgbClr val="FF7A1A"/>
                </a:solidFill>
              </a:rPr>
              <a:t>Next focus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E9428-4CE9-435B-866D-7662DF53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Simplify beginner navigation · Reduce jargon · Organise advanced trading features</a:t>
            </a:r>
          </a:p>
        </p:txBody>
      </p:sp>
    </p:spTree>
    <p:extLst>
      <p:ext uri="{BB962C8B-B14F-4D97-AF65-F5344CB8AC3E}">
        <p14:creationId xmlns:p14="http://schemas.microsoft.com/office/powerpoint/2010/main" val="579807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2026-08-29T14:37:37.7780000Z</dcterms:created>
  <dcterms:modified xsi:type="dcterms:W3CDTF">2026-08-29T14:37:37.7780000Z</dcterms:modified>
</coreProperties>
</file>